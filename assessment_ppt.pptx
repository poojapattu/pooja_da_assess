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2"/>
  </p:notesMasterIdLst>
  <p:sldIdLst>
    <p:sldId id="256" r:id="rId6"/>
    <p:sldId id="257" r:id="rId7"/>
    <p:sldId id="258" r:id="rId8"/>
    <p:sldId id="259" r:id="rId9"/>
    <p:sldId id="260" r:id="rId10"/>
    <p:sldId id="261" r:id="rId11"/>
  </p:sldIdLst>
  <p:sldSz cx="18288000" cy="10287000"/>
  <p:notesSz cx="6858000" cy="9144000"/>
  <p:embeddedFontLst>
    <p:embeddedFont>
      <p:font typeface="Saira Medium" charset="1" panose="00000600000000000000"/>
      <p:regular r:id="rId15"/>
    </p:embeddedFont>
    <p:embeddedFont>
      <p:font typeface="Roboto" charset="1" panose="02000000000000000000"/>
      <p:regular r:id="rId16"/>
    </p:embeddedFont>
    <p:embeddedFont>
      <p:font typeface="Roboto Bold"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notesMasters/notesMaster1.xml" Type="http://schemas.openxmlformats.org/officeDocument/2006/relationships/notesMaster"/><Relationship Id="rId13" Target="theme/theme2.xml" Type="http://schemas.openxmlformats.org/officeDocument/2006/relationships/theme"/><Relationship Id="rId14" Target="notesSlides/notesSlide1.xml" Type="http://schemas.openxmlformats.org/officeDocument/2006/relationships/notesSlide"/><Relationship Id="rId15" Target="fonts/font15.fntdata" Type="http://schemas.openxmlformats.org/officeDocument/2006/relationships/font"/><Relationship Id="rId16" Target="fonts/font16.fntdata" Type="http://schemas.openxmlformats.org/officeDocument/2006/relationships/font"/><Relationship Id="rId17" Target="notesSlides/notesSlide2.xml" Type="http://schemas.openxmlformats.org/officeDocument/2006/relationships/notesSlide"/><Relationship Id="rId18" Target="notesSlides/notesSlide3.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notesSlides/notesSlide4.xml" Type="http://schemas.openxmlformats.org/officeDocument/2006/relationships/notesSlide"/><Relationship Id="rId21" Target="notesSlides/notesSlide5.xml" Type="http://schemas.openxmlformats.org/officeDocument/2006/relationships/notesSlide"/><Relationship Id="rId22"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30303">
                <a:alpha val="56078"/>
              </a:srgbClr>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7" y="3458915"/>
            <a:ext cx="9445526" cy="1790997"/>
          </a:xfrm>
          <a:prstGeom prst="rect">
            <a:avLst/>
          </a:prstGeom>
        </p:spPr>
        <p:txBody>
          <a:bodyPr anchor="t" rtlCol="false" tIns="0" lIns="0" bIns="0" rIns="0">
            <a:spAutoFit/>
          </a:bodyPr>
          <a:lstStyle/>
          <a:p>
            <a:pPr algn="l">
              <a:lnSpc>
                <a:spcPts val="6937"/>
              </a:lnSpc>
            </a:pPr>
            <a:r>
              <a:rPr lang="en-US" sz="5562" b="true">
                <a:solidFill>
                  <a:srgbClr val="FFFFFF"/>
                </a:solidFill>
                <a:latin typeface="Saira Medium"/>
                <a:ea typeface="Saira Medium"/>
                <a:cs typeface="Saira Medium"/>
                <a:sym typeface="Saira Medium"/>
              </a:rPr>
              <a:t>Uber Transportation Data Analysis</a:t>
            </a:r>
          </a:p>
        </p:txBody>
      </p:sp>
      <p:sp>
        <p:nvSpPr>
          <p:cNvPr name="TextBox 9" id="9"/>
          <p:cNvSpPr txBox="true"/>
          <p:nvPr/>
        </p:nvSpPr>
        <p:spPr>
          <a:xfrm rot="0">
            <a:off x="7850237" y="5551289"/>
            <a:ext cx="9445526" cy="1257597"/>
          </a:xfrm>
          <a:prstGeom prst="rect">
            <a:avLst/>
          </a:prstGeom>
        </p:spPr>
        <p:txBody>
          <a:bodyPr anchor="t" rtlCol="false" tIns="0" lIns="0" bIns="0" rIns="0">
            <a:spAutoFit/>
          </a:bodyPr>
          <a:lstStyle/>
          <a:p>
            <a:pPr algn="l">
              <a:lnSpc>
                <a:spcPts val="4437"/>
              </a:lnSpc>
            </a:pPr>
            <a:r>
              <a:rPr lang="en-US" sz="2750">
                <a:solidFill>
                  <a:srgbClr val="E5E0DF"/>
                </a:solidFill>
                <a:latin typeface="Roboto"/>
                <a:ea typeface="Roboto"/>
                <a:cs typeface="Roboto"/>
                <a:sym typeface="Roboto"/>
              </a:rPr>
              <a:t>Insights &amp; Recommendations for Driver Allocation &amp; Customer Experience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30303">
                <a:alpha val="56078"/>
              </a:srgbClr>
            </a:solidFill>
          </p:spPr>
        </p:sp>
      </p:grpSp>
      <p:sp>
        <p:nvSpPr>
          <p:cNvPr name="TextBox 6" id="6"/>
          <p:cNvSpPr txBox="true"/>
          <p:nvPr/>
        </p:nvSpPr>
        <p:spPr>
          <a:xfrm rot="0">
            <a:off x="992238" y="2574429"/>
            <a:ext cx="5670649" cy="727770"/>
          </a:xfrm>
          <a:prstGeom prst="rect">
            <a:avLst/>
          </a:prstGeom>
        </p:spPr>
        <p:txBody>
          <a:bodyPr anchor="t" rtlCol="false" tIns="0" lIns="0" bIns="0" rIns="0">
            <a:spAutoFit/>
          </a:bodyPr>
          <a:lstStyle/>
          <a:p>
            <a:pPr algn="l">
              <a:lnSpc>
                <a:spcPts val="5562"/>
              </a:lnSpc>
            </a:pPr>
            <a:r>
              <a:rPr lang="en-US" sz="4437" b="true">
                <a:solidFill>
                  <a:srgbClr val="FFFFFF"/>
                </a:solidFill>
                <a:latin typeface="Saira Medium"/>
                <a:ea typeface="Saira Medium"/>
                <a:cs typeface="Saira Medium"/>
                <a:sym typeface="Saira Medium"/>
              </a:rPr>
              <a:t>Problem Statement</a:t>
            </a:r>
          </a:p>
        </p:txBody>
      </p:sp>
      <p:sp>
        <p:nvSpPr>
          <p:cNvPr name="TextBox 7" id="7"/>
          <p:cNvSpPr txBox="true"/>
          <p:nvPr/>
        </p:nvSpPr>
        <p:spPr>
          <a:xfrm rot="0">
            <a:off x="992238" y="3773984"/>
            <a:ext cx="16303526" cy="1456135"/>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Uber's transportation network requires data-driven optimization to improve driver allocation efficiency, reduce customer wait times, and enhance overall service quality. This analysis examines real-world trip patterns to uncover actionable insights for operational excellence.</a:t>
            </a:r>
          </a:p>
        </p:txBody>
      </p:sp>
      <p:grpSp>
        <p:nvGrpSpPr>
          <p:cNvPr name="Group 8" id="8"/>
          <p:cNvGrpSpPr/>
          <p:nvPr/>
        </p:nvGrpSpPr>
        <p:grpSpPr>
          <a:xfrm rot="0">
            <a:off x="977950" y="5534769"/>
            <a:ext cx="5274022" cy="2173040"/>
            <a:chOff x="0" y="0"/>
            <a:chExt cx="7032030" cy="2897387"/>
          </a:xfrm>
        </p:grpSpPr>
        <p:sp>
          <p:nvSpPr>
            <p:cNvPr name="Freeform 9" id="9"/>
            <p:cNvSpPr/>
            <p:nvPr/>
          </p:nvSpPr>
          <p:spPr>
            <a:xfrm flipH="false" flipV="false" rot="0">
              <a:off x="19050" y="19050"/>
              <a:ext cx="6993890" cy="2859278"/>
            </a:xfrm>
            <a:custGeom>
              <a:avLst/>
              <a:gdLst/>
              <a:ahLst/>
              <a:cxnLst/>
              <a:rect r="r" b="b" t="t" l="l"/>
              <a:pathLst>
                <a:path h="2859278" w="6993890">
                  <a:moveTo>
                    <a:pt x="0" y="340233"/>
                  </a:moveTo>
                  <a:cubicBezTo>
                    <a:pt x="0" y="152400"/>
                    <a:pt x="153543" y="0"/>
                    <a:pt x="342900" y="0"/>
                  </a:cubicBezTo>
                  <a:lnTo>
                    <a:pt x="6650990" y="0"/>
                  </a:lnTo>
                  <a:cubicBezTo>
                    <a:pt x="6840347" y="0"/>
                    <a:pt x="6993890" y="152400"/>
                    <a:pt x="6993890" y="340233"/>
                  </a:cubicBezTo>
                  <a:lnTo>
                    <a:pt x="6993890" y="2519045"/>
                  </a:lnTo>
                  <a:cubicBezTo>
                    <a:pt x="6993890" y="2707005"/>
                    <a:pt x="6840347" y="2859278"/>
                    <a:pt x="6650990" y="2859278"/>
                  </a:cubicBezTo>
                  <a:lnTo>
                    <a:pt x="342900" y="2859278"/>
                  </a:lnTo>
                  <a:cubicBezTo>
                    <a:pt x="153543" y="2859278"/>
                    <a:pt x="0" y="2706878"/>
                    <a:pt x="0" y="2519045"/>
                  </a:cubicBezTo>
                  <a:close/>
                </a:path>
              </a:pathLst>
            </a:custGeom>
            <a:solidFill>
              <a:srgbClr val="030303"/>
            </a:solidFill>
          </p:spPr>
        </p:sp>
        <p:sp>
          <p:nvSpPr>
            <p:cNvPr name="Freeform 10" id="10"/>
            <p:cNvSpPr/>
            <p:nvPr/>
          </p:nvSpPr>
          <p:spPr>
            <a:xfrm flipH="false" flipV="false" rot="0">
              <a:off x="0" y="0"/>
              <a:ext cx="7031990" cy="2897378"/>
            </a:xfrm>
            <a:custGeom>
              <a:avLst/>
              <a:gdLst/>
              <a:ahLst/>
              <a:cxnLst/>
              <a:rect r="r" b="b" t="t" l="l"/>
              <a:pathLst>
                <a:path h="2897378" w="7031990">
                  <a:moveTo>
                    <a:pt x="0" y="359283"/>
                  </a:moveTo>
                  <a:cubicBezTo>
                    <a:pt x="0" y="160782"/>
                    <a:pt x="162179" y="0"/>
                    <a:pt x="361950" y="0"/>
                  </a:cubicBezTo>
                  <a:lnTo>
                    <a:pt x="6670040" y="0"/>
                  </a:lnTo>
                  <a:lnTo>
                    <a:pt x="6670040" y="19050"/>
                  </a:lnTo>
                  <a:lnTo>
                    <a:pt x="6670040" y="0"/>
                  </a:lnTo>
                  <a:cubicBezTo>
                    <a:pt x="6869811" y="0"/>
                    <a:pt x="7031990" y="160782"/>
                    <a:pt x="7031990" y="359283"/>
                  </a:cubicBezTo>
                  <a:lnTo>
                    <a:pt x="7012940" y="359283"/>
                  </a:lnTo>
                  <a:lnTo>
                    <a:pt x="7031990" y="359283"/>
                  </a:lnTo>
                  <a:lnTo>
                    <a:pt x="7031990" y="2538095"/>
                  </a:lnTo>
                  <a:lnTo>
                    <a:pt x="7012940" y="2538095"/>
                  </a:lnTo>
                  <a:lnTo>
                    <a:pt x="7031990" y="2538095"/>
                  </a:lnTo>
                  <a:cubicBezTo>
                    <a:pt x="7031990" y="2736723"/>
                    <a:pt x="6869811" y="2897378"/>
                    <a:pt x="6670040" y="2897378"/>
                  </a:cubicBezTo>
                  <a:lnTo>
                    <a:pt x="6670040" y="2878328"/>
                  </a:lnTo>
                  <a:lnTo>
                    <a:pt x="6670040" y="2897378"/>
                  </a:lnTo>
                  <a:lnTo>
                    <a:pt x="361950" y="2897378"/>
                  </a:lnTo>
                  <a:lnTo>
                    <a:pt x="361950" y="2878328"/>
                  </a:lnTo>
                  <a:lnTo>
                    <a:pt x="361950" y="2897378"/>
                  </a:lnTo>
                  <a:cubicBezTo>
                    <a:pt x="162179" y="2897378"/>
                    <a:pt x="0" y="2736723"/>
                    <a:pt x="0" y="2538095"/>
                  </a:cubicBezTo>
                  <a:lnTo>
                    <a:pt x="0" y="359283"/>
                  </a:lnTo>
                  <a:lnTo>
                    <a:pt x="19050" y="359283"/>
                  </a:lnTo>
                  <a:lnTo>
                    <a:pt x="0" y="359283"/>
                  </a:lnTo>
                  <a:moveTo>
                    <a:pt x="38100" y="359283"/>
                  </a:moveTo>
                  <a:lnTo>
                    <a:pt x="38100" y="2538095"/>
                  </a:lnTo>
                  <a:lnTo>
                    <a:pt x="19050" y="2538095"/>
                  </a:lnTo>
                  <a:lnTo>
                    <a:pt x="38100" y="2538095"/>
                  </a:lnTo>
                  <a:cubicBezTo>
                    <a:pt x="38100" y="2715387"/>
                    <a:pt x="183007" y="2859278"/>
                    <a:pt x="361950" y="2859278"/>
                  </a:cubicBezTo>
                  <a:lnTo>
                    <a:pt x="6670040" y="2859278"/>
                  </a:lnTo>
                  <a:cubicBezTo>
                    <a:pt x="6849110" y="2859278"/>
                    <a:pt x="6993890" y="2715387"/>
                    <a:pt x="6993890" y="2538095"/>
                  </a:cubicBezTo>
                  <a:lnTo>
                    <a:pt x="6993890" y="359283"/>
                  </a:lnTo>
                  <a:cubicBezTo>
                    <a:pt x="6993890" y="181991"/>
                    <a:pt x="6849110" y="38100"/>
                    <a:pt x="6670040" y="38100"/>
                  </a:cubicBezTo>
                  <a:lnTo>
                    <a:pt x="361950" y="38100"/>
                  </a:lnTo>
                  <a:lnTo>
                    <a:pt x="361950" y="19050"/>
                  </a:lnTo>
                  <a:lnTo>
                    <a:pt x="361950" y="38100"/>
                  </a:lnTo>
                  <a:cubicBezTo>
                    <a:pt x="183007" y="38100"/>
                    <a:pt x="38100" y="181991"/>
                    <a:pt x="38100" y="359283"/>
                  </a:cubicBezTo>
                  <a:close/>
                </a:path>
              </a:pathLst>
            </a:custGeom>
            <a:solidFill>
              <a:srgbClr val="FC8337"/>
            </a:solidFill>
          </p:spPr>
        </p:sp>
      </p:grpSp>
      <p:sp>
        <p:nvSpPr>
          <p:cNvPr name="TextBox 11" id="11"/>
          <p:cNvSpPr txBox="true"/>
          <p:nvPr/>
        </p:nvSpPr>
        <p:spPr>
          <a:xfrm rot="0">
            <a:off x="1304330" y="5851624"/>
            <a:ext cx="3892152" cy="452437"/>
          </a:xfrm>
          <a:prstGeom prst="rect">
            <a:avLst/>
          </a:prstGeom>
        </p:spPr>
        <p:txBody>
          <a:bodyPr anchor="t" rtlCol="false" tIns="0" lIns="0" bIns="0" rIns="0">
            <a:spAutoFit/>
          </a:bodyPr>
          <a:lstStyle/>
          <a:p>
            <a:pPr algn="l">
              <a:lnSpc>
                <a:spcPts val="3437"/>
              </a:lnSpc>
            </a:pPr>
            <a:r>
              <a:rPr lang="en-US" sz="2750" b="true">
                <a:solidFill>
                  <a:srgbClr val="E5E0DF"/>
                </a:solidFill>
                <a:latin typeface="Saira Medium"/>
                <a:ea typeface="Saira Medium"/>
                <a:cs typeface="Saira Medium"/>
                <a:sym typeface="Saira Medium"/>
              </a:rPr>
              <a:t>Understanding Demand</a:t>
            </a:r>
          </a:p>
        </p:txBody>
      </p:sp>
      <p:sp>
        <p:nvSpPr>
          <p:cNvPr name="TextBox 12" id="12"/>
          <p:cNvSpPr txBox="true"/>
          <p:nvPr/>
        </p:nvSpPr>
        <p:spPr>
          <a:xfrm rot="0">
            <a:off x="1304330" y="6378923"/>
            <a:ext cx="4621262" cy="1002506"/>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When and where customers request rides</a:t>
            </a:r>
          </a:p>
        </p:txBody>
      </p:sp>
      <p:grpSp>
        <p:nvGrpSpPr>
          <p:cNvPr name="Group 13" id="13"/>
          <p:cNvGrpSpPr/>
          <p:nvPr/>
        </p:nvGrpSpPr>
        <p:grpSpPr>
          <a:xfrm rot="0">
            <a:off x="6506915" y="5534769"/>
            <a:ext cx="5274022" cy="2173040"/>
            <a:chOff x="0" y="0"/>
            <a:chExt cx="7032030" cy="2897387"/>
          </a:xfrm>
        </p:grpSpPr>
        <p:sp>
          <p:nvSpPr>
            <p:cNvPr name="Freeform 14" id="14"/>
            <p:cNvSpPr/>
            <p:nvPr/>
          </p:nvSpPr>
          <p:spPr>
            <a:xfrm flipH="false" flipV="false" rot="0">
              <a:off x="19050" y="19050"/>
              <a:ext cx="6993890" cy="2859278"/>
            </a:xfrm>
            <a:custGeom>
              <a:avLst/>
              <a:gdLst/>
              <a:ahLst/>
              <a:cxnLst/>
              <a:rect r="r" b="b" t="t" l="l"/>
              <a:pathLst>
                <a:path h="2859278" w="6993890">
                  <a:moveTo>
                    <a:pt x="0" y="340233"/>
                  </a:moveTo>
                  <a:cubicBezTo>
                    <a:pt x="0" y="152400"/>
                    <a:pt x="153543" y="0"/>
                    <a:pt x="342900" y="0"/>
                  </a:cubicBezTo>
                  <a:lnTo>
                    <a:pt x="6650990" y="0"/>
                  </a:lnTo>
                  <a:cubicBezTo>
                    <a:pt x="6840347" y="0"/>
                    <a:pt x="6993890" y="152400"/>
                    <a:pt x="6993890" y="340233"/>
                  </a:cubicBezTo>
                  <a:lnTo>
                    <a:pt x="6993890" y="2519045"/>
                  </a:lnTo>
                  <a:cubicBezTo>
                    <a:pt x="6993890" y="2707005"/>
                    <a:pt x="6840347" y="2859278"/>
                    <a:pt x="6650990" y="2859278"/>
                  </a:cubicBezTo>
                  <a:lnTo>
                    <a:pt x="342900" y="2859278"/>
                  </a:lnTo>
                  <a:cubicBezTo>
                    <a:pt x="153543" y="2859278"/>
                    <a:pt x="0" y="2706878"/>
                    <a:pt x="0" y="2519045"/>
                  </a:cubicBezTo>
                  <a:close/>
                </a:path>
              </a:pathLst>
            </a:custGeom>
            <a:solidFill>
              <a:srgbClr val="030303"/>
            </a:solidFill>
          </p:spPr>
        </p:sp>
        <p:sp>
          <p:nvSpPr>
            <p:cNvPr name="Freeform 15" id="15"/>
            <p:cNvSpPr/>
            <p:nvPr/>
          </p:nvSpPr>
          <p:spPr>
            <a:xfrm flipH="false" flipV="false" rot="0">
              <a:off x="0" y="0"/>
              <a:ext cx="7031990" cy="2897378"/>
            </a:xfrm>
            <a:custGeom>
              <a:avLst/>
              <a:gdLst/>
              <a:ahLst/>
              <a:cxnLst/>
              <a:rect r="r" b="b" t="t" l="l"/>
              <a:pathLst>
                <a:path h="2897378" w="7031990">
                  <a:moveTo>
                    <a:pt x="0" y="359283"/>
                  </a:moveTo>
                  <a:cubicBezTo>
                    <a:pt x="0" y="160782"/>
                    <a:pt x="162179" y="0"/>
                    <a:pt x="361950" y="0"/>
                  </a:cubicBezTo>
                  <a:lnTo>
                    <a:pt x="6670040" y="0"/>
                  </a:lnTo>
                  <a:lnTo>
                    <a:pt x="6670040" y="19050"/>
                  </a:lnTo>
                  <a:lnTo>
                    <a:pt x="6670040" y="0"/>
                  </a:lnTo>
                  <a:cubicBezTo>
                    <a:pt x="6869811" y="0"/>
                    <a:pt x="7031990" y="160782"/>
                    <a:pt x="7031990" y="359283"/>
                  </a:cubicBezTo>
                  <a:lnTo>
                    <a:pt x="7012940" y="359283"/>
                  </a:lnTo>
                  <a:lnTo>
                    <a:pt x="7031990" y="359283"/>
                  </a:lnTo>
                  <a:lnTo>
                    <a:pt x="7031990" y="2538095"/>
                  </a:lnTo>
                  <a:lnTo>
                    <a:pt x="7012940" y="2538095"/>
                  </a:lnTo>
                  <a:lnTo>
                    <a:pt x="7031990" y="2538095"/>
                  </a:lnTo>
                  <a:cubicBezTo>
                    <a:pt x="7031990" y="2736723"/>
                    <a:pt x="6869811" y="2897378"/>
                    <a:pt x="6670040" y="2897378"/>
                  </a:cubicBezTo>
                  <a:lnTo>
                    <a:pt x="6670040" y="2878328"/>
                  </a:lnTo>
                  <a:lnTo>
                    <a:pt x="6670040" y="2897378"/>
                  </a:lnTo>
                  <a:lnTo>
                    <a:pt x="361950" y="2897378"/>
                  </a:lnTo>
                  <a:lnTo>
                    <a:pt x="361950" y="2878328"/>
                  </a:lnTo>
                  <a:lnTo>
                    <a:pt x="361950" y="2897378"/>
                  </a:lnTo>
                  <a:cubicBezTo>
                    <a:pt x="162179" y="2897378"/>
                    <a:pt x="0" y="2736723"/>
                    <a:pt x="0" y="2538095"/>
                  </a:cubicBezTo>
                  <a:lnTo>
                    <a:pt x="0" y="359283"/>
                  </a:lnTo>
                  <a:lnTo>
                    <a:pt x="19050" y="359283"/>
                  </a:lnTo>
                  <a:lnTo>
                    <a:pt x="0" y="359283"/>
                  </a:lnTo>
                  <a:moveTo>
                    <a:pt x="38100" y="359283"/>
                  </a:moveTo>
                  <a:lnTo>
                    <a:pt x="38100" y="2538095"/>
                  </a:lnTo>
                  <a:lnTo>
                    <a:pt x="19050" y="2538095"/>
                  </a:lnTo>
                  <a:lnTo>
                    <a:pt x="38100" y="2538095"/>
                  </a:lnTo>
                  <a:cubicBezTo>
                    <a:pt x="38100" y="2715387"/>
                    <a:pt x="183007" y="2859278"/>
                    <a:pt x="361950" y="2859278"/>
                  </a:cubicBezTo>
                  <a:lnTo>
                    <a:pt x="6670040" y="2859278"/>
                  </a:lnTo>
                  <a:cubicBezTo>
                    <a:pt x="6849110" y="2859278"/>
                    <a:pt x="6993890" y="2715387"/>
                    <a:pt x="6993890" y="2538095"/>
                  </a:cubicBezTo>
                  <a:lnTo>
                    <a:pt x="6993890" y="359283"/>
                  </a:lnTo>
                  <a:cubicBezTo>
                    <a:pt x="6993890" y="181991"/>
                    <a:pt x="6849110" y="38100"/>
                    <a:pt x="6670040" y="38100"/>
                  </a:cubicBezTo>
                  <a:lnTo>
                    <a:pt x="361950" y="38100"/>
                  </a:lnTo>
                  <a:lnTo>
                    <a:pt x="361950" y="19050"/>
                  </a:lnTo>
                  <a:lnTo>
                    <a:pt x="361950" y="38100"/>
                  </a:lnTo>
                  <a:cubicBezTo>
                    <a:pt x="183007" y="38100"/>
                    <a:pt x="38100" y="181991"/>
                    <a:pt x="38100" y="359283"/>
                  </a:cubicBezTo>
                  <a:close/>
                </a:path>
              </a:pathLst>
            </a:custGeom>
            <a:solidFill>
              <a:srgbClr val="FC8337"/>
            </a:solidFill>
          </p:spPr>
        </p:sp>
      </p:grpSp>
      <p:sp>
        <p:nvSpPr>
          <p:cNvPr name="TextBox 16" id="16"/>
          <p:cNvSpPr txBox="true"/>
          <p:nvPr/>
        </p:nvSpPr>
        <p:spPr>
          <a:xfrm rot="0">
            <a:off x="6833295" y="5851624"/>
            <a:ext cx="3544044" cy="452437"/>
          </a:xfrm>
          <a:prstGeom prst="rect">
            <a:avLst/>
          </a:prstGeom>
        </p:spPr>
        <p:txBody>
          <a:bodyPr anchor="t" rtlCol="false" tIns="0" lIns="0" bIns="0" rIns="0">
            <a:spAutoFit/>
          </a:bodyPr>
          <a:lstStyle/>
          <a:p>
            <a:pPr algn="l">
              <a:lnSpc>
                <a:spcPts val="3437"/>
              </a:lnSpc>
            </a:pPr>
            <a:r>
              <a:rPr lang="en-US" sz="2750" b="true">
                <a:solidFill>
                  <a:srgbClr val="E5E0DF"/>
                </a:solidFill>
                <a:latin typeface="Saira Medium"/>
                <a:ea typeface="Saira Medium"/>
                <a:cs typeface="Saira Medium"/>
                <a:sym typeface="Saira Medium"/>
              </a:rPr>
              <a:t>Optimizing Supply</a:t>
            </a:r>
          </a:p>
        </p:txBody>
      </p:sp>
      <p:sp>
        <p:nvSpPr>
          <p:cNvPr name="TextBox 17" id="17"/>
          <p:cNvSpPr txBox="true"/>
          <p:nvPr/>
        </p:nvSpPr>
        <p:spPr>
          <a:xfrm rot="0">
            <a:off x="6833295" y="6378923"/>
            <a:ext cx="4621262" cy="1002506"/>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Strategic driver positioning and scheduling</a:t>
            </a:r>
          </a:p>
        </p:txBody>
      </p:sp>
      <p:grpSp>
        <p:nvGrpSpPr>
          <p:cNvPr name="Group 18" id="18"/>
          <p:cNvGrpSpPr/>
          <p:nvPr/>
        </p:nvGrpSpPr>
        <p:grpSpPr>
          <a:xfrm rot="0">
            <a:off x="12035879" y="5534769"/>
            <a:ext cx="5274022" cy="2173040"/>
            <a:chOff x="0" y="0"/>
            <a:chExt cx="7032030" cy="2897387"/>
          </a:xfrm>
        </p:grpSpPr>
        <p:sp>
          <p:nvSpPr>
            <p:cNvPr name="Freeform 19" id="19"/>
            <p:cNvSpPr/>
            <p:nvPr/>
          </p:nvSpPr>
          <p:spPr>
            <a:xfrm flipH="false" flipV="false" rot="0">
              <a:off x="19050" y="19050"/>
              <a:ext cx="6993890" cy="2859278"/>
            </a:xfrm>
            <a:custGeom>
              <a:avLst/>
              <a:gdLst/>
              <a:ahLst/>
              <a:cxnLst/>
              <a:rect r="r" b="b" t="t" l="l"/>
              <a:pathLst>
                <a:path h="2859278" w="6993890">
                  <a:moveTo>
                    <a:pt x="0" y="340233"/>
                  </a:moveTo>
                  <a:cubicBezTo>
                    <a:pt x="0" y="152400"/>
                    <a:pt x="153543" y="0"/>
                    <a:pt x="342900" y="0"/>
                  </a:cubicBezTo>
                  <a:lnTo>
                    <a:pt x="6650990" y="0"/>
                  </a:lnTo>
                  <a:cubicBezTo>
                    <a:pt x="6840347" y="0"/>
                    <a:pt x="6993890" y="152400"/>
                    <a:pt x="6993890" y="340233"/>
                  </a:cubicBezTo>
                  <a:lnTo>
                    <a:pt x="6993890" y="2519045"/>
                  </a:lnTo>
                  <a:cubicBezTo>
                    <a:pt x="6993890" y="2707005"/>
                    <a:pt x="6840347" y="2859278"/>
                    <a:pt x="6650990" y="2859278"/>
                  </a:cubicBezTo>
                  <a:lnTo>
                    <a:pt x="342900" y="2859278"/>
                  </a:lnTo>
                  <a:cubicBezTo>
                    <a:pt x="153543" y="2859278"/>
                    <a:pt x="0" y="2706878"/>
                    <a:pt x="0" y="2519045"/>
                  </a:cubicBezTo>
                  <a:close/>
                </a:path>
              </a:pathLst>
            </a:custGeom>
            <a:solidFill>
              <a:srgbClr val="030303"/>
            </a:solidFill>
          </p:spPr>
        </p:sp>
        <p:sp>
          <p:nvSpPr>
            <p:cNvPr name="Freeform 20" id="20"/>
            <p:cNvSpPr/>
            <p:nvPr/>
          </p:nvSpPr>
          <p:spPr>
            <a:xfrm flipH="false" flipV="false" rot="0">
              <a:off x="0" y="0"/>
              <a:ext cx="7031990" cy="2897378"/>
            </a:xfrm>
            <a:custGeom>
              <a:avLst/>
              <a:gdLst/>
              <a:ahLst/>
              <a:cxnLst/>
              <a:rect r="r" b="b" t="t" l="l"/>
              <a:pathLst>
                <a:path h="2897378" w="7031990">
                  <a:moveTo>
                    <a:pt x="0" y="359283"/>
                  </a:moveTo>
                  <a:cubicBezTo>
                    <a:pt x="0" y="160782"/>
                    <a:pt x="162179" y="0"/>
                    <a:pt x="361950" y="0"/>
                  </a:cubicBezTo>
                  <a:lnTo>
                    <a:pt x="6670040" y="0"/>
                  </a:lnTo>
                  <a:lnTo>
                    <a:pt x="6670040" y="19050"/>
                  </a:lnTo>
                  <a:lnTo>
                    <a:pt x="6670040" y="0"/>
                  </a:lnTo>
                  <a:cubicBezTo>
                    <a:pt x="6869811" y="0"/>
                    <a:pt x="7031990" y="160782"/>
                    <a:pt x="7031990" y="359283"/>
                  </a:cubicBezTo>
                  <a:lnTo>
                    <a:pt x="7012940" y="359283"/>
                  </a:lnTo>
                  <a:lnTo>
                    <a:pt x="7031990" y="359283"/>
                  </a:lnTo>
                  <a:lnTo>
                    <a:pt x="7031990" y="2538095"/>
                  </a:lnTo>
                  <a:lnTo>
                    <a:pt x="7012940" y="2538095"/>
                  </a:lnTo>
                  <a:lnTo>
                    <a:pt x="7031990" y="2538095"/>
                  </a:lnTo>
                  <a:cubicBezTo>
                    <a:pt x="7031990" y="2736723"/>
                    <a:pt x="6869811" y="2897378"/>
                    <a:pt x="6670040" y="2897378"/>
                  </a:cubicBezTo>
                  <a:lnTo>
                    <a:pt x="6670040" y="2878328"/>
                  </a:lnTo>
                  <a:lnTo>
                    <a:pt x="6670040" y="2897378"/>
                  </a:lnTo>
                  <a:lnTo>
                    <a:pt x="361950" y="2897378"/>
                  </a:lnTo>
                  <a:lnTo>
                    <a:pt x="361950" y="2878328"/>
                  </a:lnTo>
                  <a:lnTo>
                    <a:pt x="361950" y="2897378"/>
                  </a:lnTo>
                  <a:cubicBezTo>
                    <a:pt x="162179" y="2897378"/>
                    <a:pt x="0" y="2736723"/>
                    <a:pt x="0" y="2538095"/>
                  </a:cubicBezTo>
                  <a:lnTo>
                    <a:pt x="0" y="359283"/>
                  </a:lnTo>
                  <a:lnTo>
                    <a:pt x="19050" y="359283"/>
                  </a:lnTo>
                  <a:lnTo>
                    <a:pt x="0" y="359283"/>
                  </a:lnTo>
                  <a:moveTo>
                    <a:pt x="38100" y="359283"/>
                  </a:moveTo>
                  <a:lnTo>
                    <a:pt x="38100" y="2538095"/>
                  </a:lnTo>
                  <a:lnTo>
                    <a:pt x="19050" y="2538095"/>
                  </a:lnTo>
                  <a:lnTo>
                    <a:pt x="38100" y="2538095"/>
                  </a:lnTo>
                  <a:cubicBezTo>
                    <a:pt x="38100" y="2715387"/>
                    <a:pt x="183007" y="2859278"/>
                    <a:pt x="361950" y="2859278"/>
                  </a:cubicBezTo>
                  <a:lnTo>
                    <a:pt x="6670040" y="2859278"/>
                  </a:lnTo>
                  <a:cubicBezTo>
                    <a:pt x="6849110" y="2859278"/>
                    <a:pt x="6993890" y="2715387"/>
                    <a:pt x="6993890" y="2538095"/>
                  </a:cubicBezTo>
                  <a:lnTo>
                    <a:pt x="6993890" y="359283"/>
                  </a:lnTo>
                  <a:cubicBezTo>
                    <a:pt x="6993890" y="181991"/>
                    <a:pt x="6849110" y="38100"/>
                    <a:pt x="6670040" y="38100"/>
                  </a:cubicBezTo>
                  <a:lnTo>
                    <a:pt x="361950" y="38100"/>
                  </a:lnTo>
                  <a:lnTo>
                    <a:pt x="361950" y="19050"/>
                  </a:lnTo>
                  <a:lnTo>
                    <a:pt x="361950" y="38100"/>
                  </a:lnTo>
                  <a:cubicBezTo>
                    <a:pt x="183007" y="38100"/>
                    <a:pt x="38100" y="181991"/>
                    <a:pt x="38100" y="359283"/>
                  </a:cubicBezTo>
                  <a:close/>
                </a:path>
              </a:pathLst>
            </a:custGeom>
            <a:solidFill>
              <a:srgbClr val="FC8337"/>
            </a:solidFill>
          </p:spPr>
        </p:sp>
      </p:grpSp>
      <p:sp>
        <p:nvSpPr>
          <p:cNvPr name="TextBox 21" id="21"/>
          <p:cNvSpPr txBox="true"/>
          <p:nvPr/>
        </p:nvSpPr>
        <p:spPr>
          <a:xfrm rot="0">
            <a:off x="12362260" y="5851624"/>
            <a:ext cx="3556398" cy="452437"/>
          </a:xfrm>
          <a:prstGeom prst="rect">
            <a:avLst/>
          </a:prstGeom>
        </p:spPr>
        <p:txBody>
          <a:bodyPr anchor="t" rtlCol="false" tIns="0" lIns="0" bIns="0" rIns="0">
            <a:spAutoFit/>
          </a:bodyPr>
          <a:lstStyle/>
          <a:p>
            <a:pPr algn="l">
              <a:lnSpc>
                <a:spcPts val="3437"/>
              </a:lnSpc>
            </a:pPr>
            <a:r>
              <a:rPr lang="en-US" sz="2750" b="true">
                <a:solidFill>
                  <a:srgbClr val="E5E0DF"/>
                </a:solidFill>
                <a:latin typeface="Saira Medium"/>
                <a:ea typeface="Saira Medium"/>
                <a:cs typeface="Saira Medium"/>
                <a:sym typeface="Saira Medium"/>
              </a:rPr>
              <a:t>Improving Experience</a:t>
            </a:r>
          </a:p>
        </p:txBody>
      </p:sp>
      <p:sp>
        <p:nvSpPr>
          <p:cNvPr name="TextBox 22" id="22"/>
          <p:cNvSpPr txBox="true"/>
          <p:nvPr/>
        </p:nvSpPr>
        <p:spPr>
          <a:xfrm rot="0">
            <a:off x="12362260" y="6378923"/>
            <a:ext cx="4621263" cy="1002506"/>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Reduced wait times and better service coverage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30303">
                <a:alpha val="56078"/>
              </a:srgbClr>
            </a:solidFill>
          </p:spPr>
        </p:sp>
      </p:grpSp>
      <p:sp>
        <p:nvSpPr>
          <p:cNvPr name="TextBox 6" id="6"/>
          <p:cNvSpPr txBox="true"/>
          <p:nvPr/>
        </p:nvSpPr>
        <p:spPr>
          <a:xfrm rot="0">
            <a:off x="992238" y="2528739"/>
            <a:ext cx="5670649" cy="727770"/>
          </a:xfrm>
          <a:prstGeom prst="rect">
            <a:avLst/>
          </a:prstGeom>
        </p:spPr>
        <p:txBody>
          <a:bodyPr anchor="t" rtlCol="false" tIns="0" lIns="0" bIns="0" rIns="0">
            <a:spAutoFit/>
          </a:bodyPr>
          <a:lstStyle/>
          <a:p>
            <a:pPr algn="l">
              <a:lnSpc>
                <a:spcPts val="5562"/>
              </a:lnSpc>
            </a:pPr>
            <a:r>
              <a:rPr lang="en-US" sz="4437" b="true">
                <a:solidFill>
                  <a:srgbClr val="FFFFFF"/>
                </a:solidFill>
                <a:latin typeface="Saira Medium"/>
                <a:ea typeface="Saira Medium"/>
                <a:cs typeface="Saira Medium"/>
                <a:sym typeface="Saira Medium"/>
              </a:rPr>
              <a:t>Dataset Overview</a:t>
            </a:r>
          </a:p>
        </p:txBody>
      </p:sp>
      <p:sp>
        <p:nvSpPr>
          <p:cNvPr name="TextBox 7" id="7"/>
          <p:cNvSpPr txBox="true"/>
          <p:nvPr/>
        </p:nvSpPr>
        <p:spPr>
          <a:xfrm rot="0">
            <a:off x="992238" y="3955702"/>
            <a:ext cx="4520804" cy="452437"/>
          </a:xfrm>
          <a:prstGeom prst="rect">
            <a:avLst/>
          </a:prstGeom>
        </p:spPr>
        <p:txBody>
          <a:bodyPr anchor="t" rtlCol="false" tIns="0" lIns="0" bIns="0" rIns="0">
            <a:spAutoFit/>
          </a:bodyPr>
          <a:lstStyle/>
          <a:p>
            <a:pPr algn="l">
              <a:lnSpc>
                <a:spcPts val="3437"/>
              </a:lnSpc>
            </a:pPr>
            <a:r>
              <a:rPr lang="en-US" sz="2750" b="true">
                <a:solidFill>
                  <a:srgbClr val="FFFFFF"/>
                </a:solidFill>
                <a:latin typeface="Saira Medium"/>
                <a:ea typeface="Saira Medium"/>
                <a:cs typeface="Saira Medium"/>
                <a:sym typeface="Saira Medium"/>
              </a:rPr>
              <a:t>New York City Uber Pickups</a:t>
            </a:r>
          </a:p>
        </p:txBody>
      </p:sp>
      <p:sp>
        <p:nvSpPr>
          <p:cNvPr name="TextBox 8" id="8"/>
          <p:cNvSpPr txBox="true"/>
          <p:nvPr/>
        </p:nvSpPr>
        <p:spPr>
          <a:xfrm rot="0">
            <a:off x="992238" y="4596408"/>
            <a:ext cx="9505355" cy="548879"/>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E5E0DF"/>
                </a:solidFill>
                <a:latin typeface="Roboto Bold"/>
                <a:ea typeface="Roboto Bold"/>
                <a:cs typeface="Roboto Bold"/>
                <a:sym typeface="Roboto Bold"/>
              </a:rPr>
              <a:t>1,100+ trips</a:t>
            </a:r>
            <a:r>
              <a:rPr lang="en-US" sz="2187">
                <a:solidFill>
                  <a:srgbClr val="E5E0DF"/>
                </a:solidFill>
                <a:latin typeface="Roboto"/>
                <a:ea typeface="Roboto"/>
                <a:cs typeface="Roboto"/>
                <a:sym typeface="Roboto"/>
              </a:rPr>
              <a:t> analyzed across multiple categories</a:t>
            </a:r>
          </a:p>
        </p:txBody>
      </p:sp>
      <p:sp>
        <p:nvSpPr>
          <p:cNvPr name="TextBox 9" id="9"/>
          <p:cNvSpPr txBox="true"/>
          <p:nvPr/>
        </p:nvSpPr>
        <p:spPr>
          <a:xfrm rot="0">
            <a:off x="992238" y="5149155"/>
            <a:ext cx="9505355" cy="548879"/>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E5E0DF"/>
                </a:solidFill>
                <a:latin typeface="Roboto Bold"/>
                <a:ea typeface="Roboto Bold"/>
                <a:cs typeface="Roboto Bold"/>
                <a:sym typeface="Roboto Bold"/>
              </a:rPr>
              <a:t>Attributes:</a:t>
            </a:r>
            <a:r>
              <a:rPr lang="en-US" sz="2187">
                <a:solidFill>
                  <a:srgbClr val="E5E0DF"/>
                </a:solidFill>
                <a:latin typeface="Roboto"/>
                <a:ea typeface="Roboto"/>
                <a:cs typeface="Roboto"/>
                <a:sym typeface="Roboto"/>
              </a:rPr>
              <a:t> timestamps, trip category, distance, purpose, locations</a:t>
            </a:r>
          </a:p>
        </p:txBody>
      </p:sp>
      <p:sp>
        <p:nvSpPr>
          <p:cNvPr name="TextBox 10" id="10"/>
          <p:cNvSpPr txBox="true"/>
          <p:nvPr/>
        </p:nvSpPr>
        <p:spPr>
          <a:xfrm rot="0">
            <a:off x="992238" y="5701902"/>
            <a:ext cx="9505355" cy="1002506"/>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E5E0DF"/>
                </a:solidFill>
                <a:latin typeface="Roboto Bold"/>
                <a:ea typeface="Roboto Bold"/>
                <a:cs typeface="Roboto Bold"/>
                <a:sym typeface="Roboto Bold"/>
              </a:rPr>
              <a:t>Preprocessing:</a:t>
            </a:r>
            <a:r>
              <a:rPr lang="en-US" sz="2187">
                <a:solidFill>
                  <a:srgbClr val="E5E0DF"/>
                </a:solidFill>
                <a:latin typeface="Roboto"/>
                <a:ea typeface="Roboto"/>
                <a:cs typeface="Roboto"/>
                <a:sym typeface="Roboto"/>
              </a:rPr>
              <a:t> null values handled, duplicates removed, timestamps standardized</a:t>
            </a:r>
          </a:p>
        </p:txBody>
      </p:sp>
      <p:sp>
        <p:nvSpPr>
          <p:cNvPr name="TextBox 11" id="11"/>
          <p:cNvSpPr txBox="true"/>
          <p:nvPr/>
        </p:nvSpPr>
        <p:spPr>
          <a:xfrm rot="0">
            <a:off x="992238" y="6708279"/>
            <a:ext cx="9505355" cy="548879"/>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E5E0DF"/>
                </a:solidFill>
                <a:latin typeface="Roboto Bold"/>
                <a:ea typeface="Roboto Bold"/>
                <a:cs typeface="Roboto Bold"/>
                <a:sym typeface="Roboto Bold"/>
              </a:rPr>
              <a:t>Quality:</a:t>
            </a:r>
            <a:r>
              <a:rPr lang="en-US" sz="2187">
                <a:solidFill>
                  <a:srgbClr val="E5E0DF"/>
                </a:solidFill>
                <a:latin typeface="Roboto"/>
                <a:ea typeface="Roboto"/>
                <a:cs typeface="Roboto"/>
                <a:sym typeface="Roboto"/>
              </a:rPr>
              <a:t> Clean, validated dataset ready for analysis</a:t>
            </a:r>
          </a:p>
        </p:txBody>
      </p:sp>
      <p:grpSp>
        <p:nvGrpSpPr>
          <p:cNvPr name="Group 12" id="12"/>
          <p:cNvGrpSpPr>
            <a:grpSpLocks noChangeAspect="true"/>
          </p:cNvGrpSpPr>
          <p:nvPr/>
        </p:nvGrpSpPr>
        <p:grpSpPr>
          <a:xfrm rot="0">
            <a:off x="11198870" y="4000649"/>
            <a:ext cx="6106269" cy="3097858"/>
            <a:chOff x="0" y="0"/>
            <a:chExt cx="8141692" cy="4130477"/>
          </a:xfrm>
        </p:grpSpPr>
        <p:sp>
          <p:nvSpPr>
            <p:cNvPr name="Freeform 13" id="13" descr="preencoded.png"/>
            <p:cNvSpPr/>
            <p:nvPr/>
          </p:nvSpPr>
          <p:spPr>
            <a:xfrm flipH="false" flipV="false" rot="0">
              <a:off x="0" y="0"/>
              <a:ext cx="8141716" cy="4130421"/>
            </a:xfrm>
            <a:custGeom>
              <a:avLst/>
              <a:gdLst/>
              <a:ahLst/>
              <a:cxnLst/>
              <a:rect r="r" b="b" t="t" l="l"/>
              <a:pathLst>
                <a:path h="4130421" w="8141716">
                  <a:moveTo>
                    <a:pt x="0" y="0"/>
                  </a:moveTo>
                  <a:lnTo>
                    <a:pt x="8141716" y="0"/>
                  </a:lnTo>
                  <a:lnTo>
                    <a:pt x="8141716" y="4130421"/>
                  </a:lnTo>
                  <a:lnTo>
                    <a:pt x="0" y="4130421"/>
                  </a:lnTo>
                  <a:lnTo>
                    <a:pt x="0" y="0"/>
                  </a:lnTo>
                  <a:close/>
                </a:path>
              </a:pathLst>
            </a:custGeom>
            <a:blipFill>
              <a:blip r:embed="rId4"/>
              <a:stretch>
                <a:fillRect l="-29" t="0" r="-29" b="-1"/>
              </a:stretch>
            </a:blipFill>
          </p:spPr>
        </p:sp>
      </p:grpSp>
      <p:grpSp>
        <p:nvGrpSpPr>
          <p:cNvPr name="Group 14" id="14"/>
          <p:cNvGrpSpPr/>
          <p:nvPr/>
        </p:nvGrpSpPr>
        <p:grpSpPr>
          <a:xfrm rot="0">
            <a:off x="12649646" y="7136606"/>
            <a:ext cx="283518" cy="283518"/>
            <a:chOff x="0" y="0"/>
            <a:chExt cx="378023" cy="378023"/>
          </a:xfrm>
        </p:grpSpPr>
        <p:sp>
          <p:nvSpPr>
            <p:cNvPr name="Freeform 15" id="15"/>
            <p:cNvSpPr/>
            <p:nvPr/>
          </p:nvSpPr>
          <p:spPr>
            <a:xfrm flipH="false" flipV="false" rot="0">
              <a:off x="0" y="0"/>
              <a:ext cx="378079" cy="378079"/>
            </a:xfrm>
            <a:custGeom>
              <a:avLst/>
              <a:gdLst/>
              <a:ahLst/>
              <a:cxnLst/>
              <a:rect r="r" b="b" t="t" l="l"/>
              <a:pathLst>
                <a:path h="378079" w="378079">
                  <a:moveTo>
                    <a:pt x="0" y="30480"/>
                  </a:moveTo>
                  <a:cubicBezTo>
                    <a:pt x="0" y="13589"/>
                    <a:pt x="13589" y="0"/>
                    <a:pt x="30480" y="0"/>
                  </a:cubicBezTo>
                  <a:lnTo>
                    <a:pt x="347599" y="0"/>
                  </a:lnTo>
                  <a:cubicBezTo>
                    <a:pt x="364490" y="0"/>
                    <a:pt x="378079" y="13589"/>
                    <a:pt x="378079" y="30480"/>
                  </a:cubicBezTo>
                  <a:lnTo>
                    <a:pt x="378079" y="347599"/>
                  </a:lnTo>
                  <a:cubicBezTo>
                    <a:pt x="378079" y="364490"/>
                    <a:pt x="364490" y="378079"/>
                    <a:pt x="347599" y="378079"/>
                  </a:cubicBezTo>
                  <a:lnTo>
                    <a:pt x="30480" y="378079"/>
                  </a:lnTo>
                  <a:cubicBezTo>
                    <a:pt x="13589" y="378079"/>
                    <a:pt x="0" y="364490"/>
                    <a:pt x="0" y="347599"/>
                  </a:cubicBezTo>
                  <a:close/>
                </a:path>
              </a:pathLst>
            </a:custGeom>
            <a:solidFill>
              <a:srgbClr val="4B1E01"/>
            </a:solidFill>
          </p:spPr>
        </p:sp>
      </p:grpSp>
      <p:sp>
        <p:nvSpPr>
          <p:cNvPr name="TextBox 16" id="16"/>
          <p:cNvSpPr txBox="true"/>
          <p:nvPr/>
        </p:nvSpPr>
        <p:spPr>
          <a:xfrm rot="0">
            <a:off x="13009364" y="7174706"/>
            <a:ext cx="1147316" cy="245418"/>
          </a:xfrm>
          <a:prstGeom prst="rect">
            <a:avLst/>
          </a:prstGeom>
        </p:spPr>
        <p:txBody>
          <a:bodyPr anchor="t" rtlCol="false" tIns="0" lIns="0" bIns="0" rIns="0">
            <a:spAutoFit/>
          </a:bodyPr>
          <a:lstStyle/>
          <a:p>
            <a:pPr algn="l">
              <a:lnSpc>
                <a:spcPts val="2187"/>
              </a:lnSpc>
            </a:pPr>
            <a:r>
              <a:rPr lang="en-US" sz="2187">
                <a:solidFill>
                  <a:srgbClr val="E5E0DF"/>
                </a:solidFill>
                <a:latin typeface="Roboto"/>
                <a:ea typeface="Roboto"/>
                <a:cs typeface="Roboto"/>
                <a:sym typeface="Roboto"/>
              </a:rPr>
              <a:t>Business</a:t>
            </a:r>
          </a:p>
        </p:txBody>
      </p:sp>
      <p:grpSp>
        <p:nvGrpSpPr>
          <p:cNvPr name="Group 17" id="17"/>
          <p:cNvGrpSpPr/>
          <p:nvPr/>
        </p:nvGrpSpPr>
        <p:grpSpPr>
          <a:xfrm rot="0">
            <a:off x="14347180" y="7136606"/>
            <a:ext cx="283518" cy="283518"/>
            <a:chOff x="0" y="0"/>
            <a:chExt cx="378023" cy="378023"/>
          </a:xfrm>
        </p:grpSpPr>
        <p:sp>
          <p:nvSpPr>
            <p:cNvPr name="Freeform 18" id="18"/>
            <p:cNvSpPr/>
            <p:nvPr/>
          </p:nvSpPr>
          <p:spPr>
            <a:xfrm flipH="false" flipV="false" rot="0">
              <a:off x="0" y="0"/>
              <a:ext cx="378079" cy="378079"/>
            </a:xfrm>
            <a:custGeom>
              <a:avLst/>
              <a:gdLst/>
              <a:ahLst/>
              <a:cxnLst/>
              <a:rect r="r" b="b" t="t" l="l"/>
              <a:pathLst>
                <a:path h="378079" w="378079">
                  <a:moveTo>
                    <a:pt x="0" y="30480"/>
                  </a:moveTo>
                  <a:cubicBezTo>
                    <a:pt x="0" y="13589"/>
                    <a:pt x="13589" y="0"/>
                    <a:pt x="30480" y="0"/>
                  </a:cubicBezTo>
                  <a:lnTo>
                    <a:pt x="347599" y="0"/>
                  </a:lnTo>
                  <a:cubicBezTo>
                    <a:pt x="364490" y="0"/>
                    <a:pt x="378079" y="13589"/>
                    <a:pt x="378079" y="30480"/>
                  </a:cubicBezTo>
                  <a:lnTo>
                    <a:pt x="378079" y="347599"/>
                  </a:lnTo>
                  <a:cubicBezTo>
                    <a:pt x="378079" y="364490"/>
                    <a:pt x="364490" y="378079"/>
                    <a:pt x="347599" y="378079"/>
                  </a:cubicBezTo>
                  <a:lnTo>
                    <a:pt x="30480" y="378079"/>
                  </a:lnTo>
                  <a:cubicBezTo>
                    <a:pt x="13589" y="378079"/>
                    <a:pt x="0" y="364490"/>
                    <a:pt x="0" y="347599"/>
                  </a:cubicBezTo>
                  <a:close/>
                </a:path>
              </a:pathLst>
            </a:custGeom>
            <a:solidFill>
              <a:srgbClr val="FC731D"/>
            </a:solidFill>
          </p:spPr>
        </p:sp>
      </p:grpSp>
      <p:sp>
        <p:nvSpPr>
          <p:cNvPr name="TextBox 19" id="19"/>
          <p:cNvSpPr txBox="true"/>
          <p:nvPr/>
        </p:nvSpPr>
        <p:spPr>
          <a:xfrm rot="0">
            <a:off x="14706897" y="7174706"/>
            <a:ext cx="1110704" cy="245418"/>
          </a:xfrm>
          <a:prstGeom prst="rect">
            <a:avLst/>
          </a:prstGeom>
        </p:spPr>
        <p:txBody>
          <a:bodyPr anchor="t" rtlCol="false" tIns="0" lIns="0" bIns="0" rIns="0">
            <a:spAutoFit/>
          </a:bodyPr>
          <a:lstStyle/>
          <a:p>
            <a:pPr algn="l">
              <a:lnSpc>
                <a:spcPts val="2187"/>
              </a:lnSpc>
            </a:pPr>
            <a:r>
              <a:rPr lang="en-US" sz="2187">
                <a:solidFill>
                  <a:srgbClr val="E5E0DF"/>
                </a:solidFill>
                <a:latin typeface="Roboto"/>
                <a:ea typeface="Roboto"/>
                <a:cs typeface="Roboto"/>
                <a:sym typeface="Roboto"/>
              </a:rPr>
              <a:t>Personal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30303">
                <a:alpha val="56078"/>
              </a:srgbClr>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575370" y="451991"/>
            <a:ext cx="7142112" cy="785812"/>
          </a:xfrm>
          <a:prstGeom prst="rect">
            <a:avLst/>
          </a:prstGeom>
        </p:spPr>
        <p:txBody>
          <a:bodyPr anchor="t" rtlCol="false" tIns="0" lIns="0" bIns="0" rIns="0">
            <a:spAutoFit/>
          </a:bodyPr>
          <a:lstStyle/>
          <a:p>
            <a:pPr algn="l">
              <a:lnSpc>
                <a:spcPts val="3187"/>
              </a:lnSpc>
            </a:pPr>
            <a:r>
              <a:rPr lang="en-US" sz="2562" b="true">
                <a:solidFill>
                  <a:srgbClr val="FFFFFF"/>
                </a:solidFill>
                <a:latin typeface="Saira Medium"/>
                <a:ea typeface="Saira Medium"/>
                <a:cs typeface="Saira Medium"/>
                <a:sym typeface="Saira Medium"/>
              </a:rPr>
              <a:t>One of the insight</a:t>
            </a:r>
            <a:r>
              <a:rPr lang="en-US" sz="2562" b="true">
                <a:solidFill>
                  <a:srgbClr val="FFFFFF"/>
                </a:solidFill>
                <a:latin typeface="Saira Medium"/>
                <a:ea typeface="Saira Medium"/>
                <a:cs typeface="Saira Medium"/>
                <a:sym typeface="Saira Medium"/>
              </a:rPr>
              <a:t>: Weekday vs Weekend Patterns</a:t>
            </a:r>
          </a:p>
        </p:txBody>
      </p:sp>
      <p:sp>
        <p:nvSpPr>
          <p:cNvPr name="TextBox 9" id="9"/>
          <p:cNvSpPr txBox="true"/>
          <p:nvPr/>
        </p:nvSpPr>
        <p:spPr>
          <a:xfrm rot="0">
            <a:off x="575370" y="1134516"/>
            <a:ext cx="17137261" cy="320277"/>
          </a:xfrm>
          <a:prstGeom prst="rect">
            <a:avLst/>
          </a:prstGeom>
        </p:spPr>
        <p:txBody>
          <a:bodyPr anchor="t" rtlCol="false" tIns="0" lIns="0" bIns="0" rIns="0">
            <a:spAutoFit/>
          </a:bodyPr>
          <a:lstStyle/>
          <a:p>
            <a:pPr algn="l">
              <a:lnSpc>
                <a:spcPts val="2062"/>
              </a:lnSpc>
            </a:pPr>
            <a:r>
              <a:rPr lang="en-US" sz="1249">
                <a:solidFill>
                  <a:srgbClr val="E5E0DF"/>
                </a:solidFill>
                <a:latin typeface="Roboto"/>
                <a:ea typeface="Roboto"/>
                <a:cs typeface="Roboto"/>
                <a:sym typeface="Roboto"/>
              </a:rPr>
              <a:t>Business trips dominate weekday demand while personal trips peak on weekends, indicating distinct usage patterns driven by commuting versus leisure activities.</a:t>
            </a:r>
          </a:p>
        </p:txBody>
      </p:sp>
      <p:grpSp>
        <p:nvGrpSpPr>
          <p:cNvPr name="Group 10" id="10"/>
          <p:cNvGrpSpPr>
            <a:grpSpLocks noChangeAspect="true"/>
          </p:cNvGrpSpPr>
          <p:nvPr/>
        </p:nvGrpSpPr>
        <p:grpSpPr>
          <a:xfrm rot="0">
            <a:off x="575370" y="1639640"/>
            <a:ext cx="17137261" cy="9103519"/>
            <a:chOff x="0" y="0"/>
            <a:chExt cx="22849682" cy="12138025"/>
          </a:xfrm>
        </p:grpSpPr>
        <p:sp>
          <p:nvSpPr>
            <p:cNvPr name="Freeform 11" id="11" descr="preencoded.png"/>
            <p:cNvSpPr/>
            <p:nvPr/>
          </p:nvSpPr>
          <p:spPr>
            <a:xfrm flipH="false" flipV="false" rot="0">
              <a:off x="0" y="0"/>
              <a:ext cx="22849712" cy="12138025"/>
            </a:xfrm>
            <a:custGeom>
              <a:avLst/>
              <a:gdLst/>
              <a:ahLst/>
              <a:cxnLst/>
              <a:rect r="r" b="b" t="t" l="l"/>
              <a:pathLst>
                <a:path h="12138025" w="22849712">
                  <a:moveTo>
                    <a:pt x="0" y="0"/>
                  </a:moveTo>
                  <a:lnTo>
                    <a:pt x="22849712" y="0"/>
                  </a:lnTo>
                  <a:lnTo>
                    <a:pt x="22849712" y="12138025"/>
                  </a:lnTo>
                  <a:lnTo>
                    <a:pt x="0" y="12138025"/>
                  </a:lnTo>
                  <a:lnTo>
                    <a:pt x="0" y="0"/>
                  </a:lnTo>
                  <a:close/>
                </a:path>
              </a:pathLst>
            </a:custGeom>
            <a:blipFill>
              <a:blip r:embed="rId6"/>
              <a:stretch>
                <a:fillRect l="0" t="-18" r="0" b="-18"/>
              </a:stretch>
            </a:blipFill>
          </p:spPr>
        </p:sp>
      </p:grpSp>
      <p:grpSp>
        <p:nvGrpSpPr>
          <p:cNvPr name="Group 12" id="12"/>
          <p:cNvGrpSpPr/>
          <p:nvPr/>
        </p:nvGrpSpPr>
        <p:grpSpPr>
          <a:xfrm rot="0">
            <a:off x="7740700" y="10743159"/>
            <a:ext cx="164306" cy="164306"/>
            <a:chOff x="0" y="0"/>
            <a:chExt cx="219075" cy="219075"/>
          </a:xfrm>
        </p:grpSpPr>
        <p:sp>
          <p:nvSpPr>
            <p:cNvPr name="Freeform 13" id="13"/>
            <p:cNvSpPr/>
            <p:nvPr/>
          </p:nvSpPr>
          <p:spPr>
            <a:xfrm flipH="false" flipV="false" rot="0">
              <a:off x="0" y="0"/>
              <a:ext cx="219075" cy="219075"/>
            </a:xfrm>
            <a:custGeom>
              <a:avLst/>
              <a:gdLst/>
              <a:ahLst/>
              <a:cxnLst/>
              <a:rect r="r" b="b" t="t" l="l"/>
              <a:pathLst>
                <a:path h="219075" w="219075">
                  <a:moveTo>
                    <a:pt x="0" y="30480"/>
                  </a:moveTo>
                  <a:cubicBezTo>
                    <a:pt x="0" y="13589"/>
                    <a:pt x="13589" y="0"/>
                    <a:pt x="30480" y="0"/>
                  </a:cubicBezTo>
                  <a:lnTo>
                    <a:pt x="188595" y="0"/>
                  </a:lnTo>
                  <a:cubicBezTo>
                    <a:pt x="205486" y="0"/>
                    <a:pt x="219075" y="13589"/>
                    <a:pt x="219075" y="30480"/>
                  </a:cubicBezTo>
                  <a:lnTo>
                    <a:pt x="219075" y="188595"/>
                  </a:lnTo>
                  <a:cubicBezTo>
                    <a:pt x="219075" y="205486"/>
                    <a:pt x="205486" y="219075"/>
                    <a:pt x="188595" y="219075"/>
                  </a:cubicBezTo>
                  <a:lnTo>
                    <a:pt x="30480" y="219075"/>
                  </a:lnTo>
                  <a:cubicBezTo>
                    <a:pt x="13589" y="219075"/>
                    <a:pt x="0" y="205486"/>
                    <a:pt x="0" y="188595"/>
                  </a:cubicBezTo>
                  <a:close/>
                </a:path>
              </a:pathLst>
            </a:custGeom>
            <a:solidFill>
              <a:srgbClr val="A64102"/>
            </a:solidFill>
          </p:spPr>
        </p:sp>
      </p:grpSp>
      <p:sp>
        <p:nvSpPr>
          <p:cNvPr name="TextBox 14" id="14"/>
          <p:cNvSpPr txBox="true"/>
          <p:nvPr/>
        </p:nvSpPr>
        <p:spPr>
          <a:xfrm rot="0">
            <a:off x="7981206" y="10762209"/>
            <a:ext cx="1067544" cy="145405"/>
          </a:xfrm>
          <a:prstGeom prst="rect">
            <a:avLst/>
          </a:prstGeom>
        </p:spPr>
        <p:txBody>
          <a:bodyPr anchor="t" rtlCol="false" tIns="0" lIns="0" bIns="0" rIns="0">
            <a:spAutoFit/>
          </a:bodyPr>
          <a:lstStyle/>
          <a:p>
            <a:pPr algn="l">
              <a:lnSpc>
                <a:spcPts val="1249"/>
              </a:lnSpc>
            </a:pPr>
            <a:r>
              <a:rPr lang="en-US" sz="1249">
                <a:solidFill>
                  <a:srgbClr val="E5E0DF"/>
                </a:solidFill>
                <a:latin typeface="Roboto"/>
                <a:ea typeface="Roboto"/>
                <a:cs typeface="Roboto"/>
                <a:sym typeface="Roboto"/>
              </a:rPr>
              <a:t>Business Trips</a:t>
            </a:r>
          </a:p>
        </p:txBody>
      </p:sp>
      <p:grpSp>
        <p:nvGrpSpPr>
          <p:cNvPr name="Group 15" id="15"/>
          <p:cNvGrpSpPr/>
          <p:nvPr/>
        </p:nvGrpSpPr>
        <p:grpSpPr>
          <a:xfrm rot="0">
            <a:off x="9239250" y="10743159"/>
            <a:ext cx="164306" cy="164306"/>
            <a:chOff x="0" y="0"/>
            <a:chExt cx="219075" cy="219075"/>
          </a:xfrm>
        </p:grpSpPr>
        <p:sp>
          <p:nvSpPr>
            <p:cNvPr name="Freeform 16" id="16"/>
            <p:cNvSpPr/>
            <p:nvPr/>
          </p:nvSpPr>
          <p:spPr>
            <a:xfrm flipH="false" flipV="false" rot="0">
              <a:off x="0" y="0"/>
              <a:ext cx="219075" cy="219075"/>
            </a:xfrm>
            <a:custGeom>
              <a:avLst/>
              <a:gdLst/>
              <a:ahLst/>
              <a:cxnLst/>
              <a:rect r="r" b="b" t="t" l="l"/>
              <a:pathLst>
                <a:path h="219075" w="219075">
                  <a:moveTo>
                    <a:pt x="0" y="30480"/>
                  </a:moveTo>
                  <a:cubicBezTo>
                    <a:pt x="0" y="13589"/>
                    <a:pt x="13589" y="0"/>
                    <a:pt x="30480" y="0"/>
                  </a:cubicBezTo>
                  <a:lnTo>
                    <a:pt x="188595" y="0"/>
                  </a:lnTo>
                  <a:cubicBezTo>
                    <a:pt x="205486" y="0"/>
                    <a:pt x="219075" y="13589"/>
                    <a:pt x="219075" y="30480"/>
                  </a:cubicBezTo>
                  <a:lnTo>
                    <a:pt x="219075" y="188595"/>
                  </a:lnTo>
                  <a:cubicBezTo>
                    <a:pt x="219075" y="205486"/>
                    <a:pt x="205486" y="219075"/>
                    <a:pt x="188595" y="219075"/>
                  </a:cubicBezTo>
                  <a:lnTo>
                    <a:pt x="30480" y="219075"/>
                  </a:lnTo>
                  <a:cubicBezTo>
                    <a:pt x="13589" y="219075"/>
                    <a:pt x="0" y="205486"/>
                    <a:pt x="0" y="188595"/>
                  </a:cubicBezTo>
                  <a:close/>
                </a:path>
              </a:pathLst>
            </a:custGeom>
            <a:solidFill>
              <a:srgbClr val="FC8F4A"/>
            </a:solidFill>
          </p:spPr>
        </p:sp>
      </p:grpSp>
      <p:sp>
        <p:nvSpPr>
          <p:cNvPr name="TextBox 17" id="17"/>
          <p:cNvSpPr txBox="true"/>
          <p:nvPr/>
        </p:nvSpPr>
        <p:spPr>
          <a:xfrm rot="0">
            <a:off x="9479756" y="10762209"/>
            <a:ext cx="1046261" cy="145405"/>
          </a:xfrm>
          <a:prstGeom prst="rect">
            <a:avLst/>
          </a:prstGeom>
        </p:spPr>
        <p:txBody>
          <a:bodyPr anchor="t" rtlCol="false" tIns="0" lIns="0" bIns="0" rIns="0">
            <a:spAutoFit/>
          </a:bodyPr>
          <a:lstStyle/>
          <a:p>
            <a:pPr algn="l">
              <a:lnSpc>
                <a:spcPts val="1249"/>
              </a:lnSpc>
            </a:pPr>
            <a:r>
              <a:rPr lang="en-US" sz="1249">
                <a:solidFill>
                  <a:srgbClr val="E5E0DF"/>
                </a:solidFill>
                <a:latin typeface="Roboto"/>
                <a:ea typeface="Roboto"/>
                <a:cs typeface="Roboto"/>
                <a:sym typeface="Roboto"/>
              </a:rPr>
              <a:t>Personal Trips</a:t>
            </a:r>
          </a:p>
        </p:txBody>
      </p:sp>
      <p:sp>
        <p:nvSpPr>
          <p:cNvPr name="Freeform 18" id="18" descr="preencoded.png"/>
          <p:cNvSpPr/>
          <p:nvPr/>
        </p:nvSpPr>
        <p:spPr>
          <a:xfrm flipH="false" flipV="false" rot="0">
            <a:off x="636984" y="11426205"/>
            <a:ext cx="246460" cy="246460"/>
          </a:xfrm>
          <a:custGeom>
            <a:avLst/>
            <a:gdLst/>
            <a:ahLst/>
            <a:cxnLst/>
            <a:rect r="r" b="b" t="t" l="l"/>
            <a:pathLst>
              <a:path h="246460" w="246460">
                <a:moveTo>
                  <a:pt x="0" y="0"/>
                </a:moveTo>
                <a:lnTo>
                  <a:pt x="246460" y="0"/>
                </a:lnTo>
                <a:lnTo>
                  <a:pt x="246460" y="246460"/>
                </a:lnTo>
                <a:lnTo>
                  <a:pt x="0" y="246460"/>
                </a:lnTo>
                <a:lnTo>
                  <a:pt x="0" y="0"/>
                </a:lnTo>
                <a:close/>
              </a:path>
            </a:pathLst>
          </a:custGeom>
          <a:blipFill>
            <a:blip r:embed="rId7">
              <a:extLst>
                <a:ext uri="{96DAC541-7B7A-43D3-8B79-37D633B846F1}">
                  <asvg:svgBlip xmlns:asvg="http://schemas.microsoft.com/office/drawing/2016/SVG/main" r:embed="rId8"/>
                </a:ext>
              </a:extLst>
            </a:blip>
            <a:stretch>
              <a:fillRect l="-9615" t="0" r="-9615" b="0"/>
            </a:stretch>
          </a:blipFill>
        </p:spPr>
      </p:sp>
      <p:sp>
        <p:nvSpPr>
          <p:cNvPr name="TextBox 19" id="19"/>
          <p:cNvSpPr txBox="true"/>
          <p:nvPr/>
        </p:nvSpPr>
        <p:spPr>
          <a:xfrm rot="0">
            <a:off x="1109514" y="11402169"/>
            <a:ext cx="2054870" cy="275927"/>
          </a:xfrm>
          <a:prstGeom prst="rect">
            <a:avLst/>
          </a:prstGeom>
        </p:spPr>
        <p:txBody>
          <a:bodyPr anchor="t" rtlCol="false" tIns="0" lIns="0" bIns="0" rIns="0">
            <a:spAutoFit/>
          </a:bodyPr>
          <a:lstStyle/>
          <a:p>
            <a:pPr algn="l">
              <a:lnSpc>
                <a:spcPts val="2000"/>
              </a:lnSpc>
            </a:pPr>
            <a:r>
              <a:rPr lang="en-US" sz="1562" b="true">
                <a:solidFill>
                  <a:srgbClr val="000000"/>
                </a:solidFill>
                <a:latin typeface="Saira Medium"/>
                <a:ea typeface="Saira Medium"/>
                <a:cs typeface="Saira Medium"/>
                <a:sym typeface="Saira Medium"/>
              </a:rPr>
              <a:t>📈</a:t>
            </a:r>
            <a:r>
              <a:rPr lang="en-US" sz="1562" b="true">
                <a:solidFill>
                  <a:srgbClr val="E5E0DF"/>
                </a:solidFill>
                <a:latin typeface="Saira Medium"/>
                <a:ea typeface="Saira Medium"/>
                <a:cs typeface="Saira Medium"/>
                <a:sym typeface="Saira Medium"/>
              </a:rPr>
              <a:t> Confidence: 93%</a:t>
            </a:r>
          </a:p>
        </p:txBody>
      </p:sp>
      <p:sp>
        <p:nvSpPr>
          <p:cNvPr name="Freeform 20" id="20" descr="preencoded.png"/>
          <p:cNvSpPr/>
          <p:nvPr/>
        </p:nvSpPr>
        <p:spPr>
          <a:xfrm flipH="false" flipV="false" rot="0">
            <a:off x="6417766" y="11426205"/>
            <a:ext cx="246460" cy="246460"/>
          </a:xfrm>
          <a:custGeom>
            <a:avLst/>
            <a:gdLst/>
            <a:ahLst/>
            <a:cxnLst/>
            <a:rect r="r" b="b" t="t" l="l"/>
            <a:pathLst>
              <a:path h="246460" w="246460">
                <a:moveTo>
                  <a:pt x="0" y="0"/>
                </a:moveTo>
                <a:lnTo>
                  <a:pt x="246460" y="0"/>
                </a:lnTo>
                <a:lnTo>
                  <a:pt x="246460" y="246460"/>
                </a:lnTo>
                <a:lnTo>
                  <a:pt x="0" y="246460"/>
                </a:lnTo>
                <a:lnTo>
                  <a:pt x="0" y="0"/>
                </a:lnTo>
                <a:close/>
              </a:path>
            </a:pathLst>
          </a:custGeom>
          <a:blipFill>
            <a:blip r:embed="rId7">
              <a:extLst>
                <a:ext uri="{96DAC541-7B7A-43D3-8B79-37D633B846F1}">
                  <asvg:svgBlip xmlns:asvg="http://schemas.microsoft.com/office/drawing/2016/SVG/main" r:embed="rId8"/>
                </a:ext>
              </a:extLst>
            </a:blip>
            <a:stretch>
              <a:fillRect l="-9615" t="0" r="-9615" b="0"/>
            </a:stretch>
          </a:blipFill>
        </p:spPr>
      </p:sp>
      <p:sp>
        <p:nvSpPr>
          <p:cNvPr name="TextBox 21" id="21"/>
          <p:cNvSpPr txBox="true"/>
          <p:nvPr/>
        </p:nvSpPr>
        <p:spPr>
          <a:xfrm rot="0">
            <a:off x="6890296" y="11402169"/>
            <a:ext cx="2054870" cy="275927"/>
          </a:xfrm>
          <a:prstGeom prst="rect">
            <a:avLst/>
          </a:prstGeom>
        </p:spPr>
        <p:txBody>
          <a:bodyPr anchor="t" rtlCol="false" tIns="0" lIns="0" bIns="0" rIns="0">
            <a:spAutoFit/>
          </a:bodyPr>
          <a:lstStyle/>
          <a:p>
            <a:pPr algn="l">
              <a:lnSpc>
                <a:spcPts val="2000"/>
              </a:lnSpc>
            </a:pPr>
            <a:r>
              <a:rPr lang="en-US" sz="1562" b="true">
                <a:solidFill>
                  <a:srgbClr val="000000"/>
                </a:solidFill>
                <a:latin typeface="Saira Medium"/>
                <a:ea typeface="Saira Medium"/>
                <a:cs typeface="Saira Medium"/>
                <a:sym typeface="Saira Medium"/>
              </a:rPr>
              <a:t>🎯</a:t>
            </a:r>
            <a:r>
              <a:rPr lang="en-US" sz="1562" b="true">
                <a:solidFill>
                  <a:srgbClr val="E5E0DF"/>
                </a:solidFill>
                <a:latin typeface="Saira Medium"/>
                <a:ea typeface="Saira Medium"/>
                <a:cs typeface="Saira Medium"/>
                <a:sym typeface="Saira Medium"/>
              </a:rPr>
              <a:t> Fleet Adjustment</a:t>
            </a:r>
          </a:p>
        </p:txBody>
      </p:sp>
      <p:sp>
        <p:nvSpPr>
          <p:cNvPr name="TextBox 22" id="22"/>
          <p:cNvSpPr txBox="true"/>
          <p:nvPr/>
        </p:nvSpPr>
        <p:spPr>
          <a:xfrm rot="0">
            <a:off x="6890296" y="11719471"/>
            <a:ext cx="5041404" cy="583406"/>
          </a:xfrm>
          <a:prstGeom prst="rect">
            <a:avLst/>
          </a:prstGeom>
        </p:spPr>
        <p:txBody>
          <a:bodyPr anchor="t" rtlCol="false" tIns="0" lIns="0" bIns="0" rIns="0">
            <a:spAutoFit/>
          </a:bodyPr>
          <a:lstStyle/>
          <a:p>
            <a:pPr algn="l">
              <a:lnSpc>
                <a:spcPts val="2062"/>
              </a:lnSpc>
            </a:pPr>
            <a:r>
              <a:rPr lang="en-US" sz="1249">
                <a:solidFill>
                  <a:srgbClr val="E5E0DF"/>
                </a:solidFill>
                <a:latin typeface="Roboto"/>
                <a:ea typeface="Roboto"/>
                <a:cs typeface="Roboto"/>
                <a:sym typeface="Roboto"/>
              </a:rPr>
              <a:t>Scale business drivers for weekdays, increase personal trip coverage weekends</a:t>
            </a:r>
          </a:p>
        </p:txBody>
      </p:sp>
      <p:sp>
        <p:nvSpPr>
          <p:cNvPr name="Freeform 23" id="23" descr="preencoded.png"/>
          <p:cNvSpPr/>
          <p:nvPr/>
        </p:nvSpPr>
        <p:spPr>
          <a:xfrm flipH="false" flipV="false" rot="0">
            <a:off x="12198698" y="11426205"/>
            <a:ext cx="246460" cy="246460"/>
          </a:xfrm>
          <a:custGeom>
            <a:avLst/>
            <a:gdLst/>
            <a:ahLst/>
            <a:cxnLst/>
            <a:rect r="r" b="b" t="t" l="l"/>
            <a:pathLst>
              <a:path h="246460" w="246460">
                <a:moveTo>
                  <a:pt x="0" y="0"/>
                </a:moveTo>
                <a:lnTo>
                  <a:pt x="246460" y="0"/>
                </a:lnTo>
                <a:lnTo>
                  <a:pt x="246460" y="246460"/>
                </a:lnTo>
                <a:lnTo>
                  <a:pt x="0" y="246460"/>
                </a:lnTo>
                <a:lnTo>
                  <a:pt x="0" y="0"/>
                </a:lnTo>
                <a:close/>
              </a:path>
            </a:pathLst>
          </a:custGeom>
          <a:blipFill>
            <a:blip r:embed="rId7">
              <a:extLst>
                <a:ext uri="{96DAC541-7B7A-43D3-8B79-37D633B846F1}">
                  <asvg:svgBlip xmlns:asvg="http://schemas.microsoft.com/office/drawing/2016/SVG/main" r:embed="rId8"/>
                </a:ext>
              </a:extLst>
            </a:blip>
            <a:stretch>
              <a:fillRect l="-9615" t="0" r="-9615" b="0"/>
            </a:stretch>
          </a:blipFill>
        </p:spPr>
      </p:sp>
      <p:sp>
        <p:nvSpPr>
          <p:cNvPr name="TextBox 24" id="24"/>
          <p:cNvSpPr txBox="true"/>
          <p:nvPr/>
        </p:nvSpPr>
        <p:spPr>
          <a:xfrm rot="0">
            <a:off x="12671226" y="11402169"/>
            <a:ext cx="2681139" cy="275927"/>
          </a:xfrm>
          <a:prstGeom prst="rect">
            <a:avLst/>
          </a:prstGeom>
        </p:spPr>
        <p:txBody>
          <a:bodyPr anchor="t" rtlCol="false" tIns="0" lIns="0" bIns="0" rIns="0">
            <a:spAutoFit/>
          </a:bodyPr>
          <a:lstStyle/>
          <a:p>
            <a:pPr algn="l">
              <a:lnSpc>
                <a:spcPts val="2000"/>
              </a:lnSpc>
            </a:pPr>
            <a:r>
              <a:rPr lang="en-US" sz="1562" b="true">
                <a:solidFill>
                  <a:srgbClr val="000000"/>
                </a:solidFill>
                <a:latin typeface="Saira Medium"/>
                <a:ea typeface="Saira Medium"/>
                <a:cs typeface="Saira Medium"/>
                <a:sym typeface="Saira Medium"/>
              </a:rPr>
              <a:t>💰</a:t>
            </a:r>
            <a:r>
              <a:rPr lang="en-US" sz="1562" b="true">
                <a:solidFill>
                  <a:srgbClr val="E5E0DF"/>
                </a:solidFill>
                <a:latin typeface="Saira Medium"/>
                <a:ea typeface="Saira Medium"/>
                <a:cs typeface="Saira Medium"/>
                <a:sym typeface="Saira Medium"/>
              </a:rPr>
              <a:t> Promotional Opportunity</a:t>
            </a:r>
          </a:p>
        </p:txBody>
      </p:sp>
      <p:sp>
        <p:nvSpPr>
          <p:cNvPr name="TextBox 25" id="25"/>
          <p:cNvSpPr txBox="true"/>
          <p:nvPr/>
        </p:nvSpPr>
        <p:spPr>
          <a:xfrm rot="0">
            <a:off x="12671226" y="11719471"/>
            <a:ext cx="5041404" cy="583406"/>
          </a:xfrm>
          <a:prstGeom prst="rect">
            <a:avLst/>
          </a:prstGeom>
        </p:spPr>
        <p:txBody>
          <a:bodyPr anchor="t" rtlCol="false" tIns="0" lIns="0" bIns="0" rIns="0">
            <a:spAutoFit/>
          </a:bodyPr>
          <a:lstStyle/>
          <a:p>
            <a:pPr algn="l">
              <a:lnSpc>
                <a:spcPts val="2062"/>
              </a:lnSpc>
            </a:pPr>
            <a:r>
              <a:rPr lang="en-US" sz="1249">
                <a:solidFill>
                  <a:srgbClr val="E5E0DF"/>
                </a:solidFill>
                <a:latin typeface="Roboto"/>
                <a:ea typeface="Roboto"/>
                <a:cs typeface="Roboto"/>
                <a:sym typeface="Roboto"/>
              </a:rPr>
              <a:t>Weekend discounts drive personal trip growth and expand revenue streams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30303">
                <a:alpha val="56078"/>
              </a:srgbClr>
            </a:solidFill>
          </p:spPr>
        </p:sp>
      </p:grpSp>
      <p:sp>
        <p:nvSpPr>
          <p:cNvPr name="TextBox 6" id="6"/>
          <p:cNvSpPr txBox="true"/>
          <p:nvPr/>
        </p:nvSpPr>
        <p:spPr>
          <a:xfrm rot="0">
            <a:off x="952649" y="730597"/>
            <a:ext cx="6712446" cy="699493"/>
          </a:xfrm>
          <a:prstGeom prst="rect">
            <a:avLst/>
          </a:prstGeom>
        </p:spPr>
        <p:txBody>
          <a:bodyPr anchor="t" rtlCol="false" tIns="0" lIns="0" bIns="0" rIns="0">
            <a:spAutoFit/>
          </a:bodyPr>
          <a:lstStyle/>
          <a:p>
            <a:pPr algn="l">
              <a:lnSpc>
                <a:spcPts val="5312"/>
              </a:lnSpc>
            </a:pPr>
            <a:r>
              <a:rPr lang="en-US" sz="4250" b="true">
                <a:solidFill>
                  <a:srgbClr val="FFFFFF"/>
                </a:solidFill>
                <a:latin typeface="Saira Medium"/>
                <a:ea typeface="Saira Medium"/>
                <a:cs typeface="Saira Medium"/>
                <a:sym typeface="Saira Medium"/>
              </a:rPr>
              <a:t>Expected Impact &amp; Metrics</a:t>
            </a:r>
          </a:p>
        </p:txBody>
      </p:sp>
      <p:sp>
        <p:nvSpPr>
          <p:cNvPr name="TextBox 7" id="7"/>
          <p:cNvSpPr txBox="true"/>
          <p:nvPr/>
        </p:nvSpPr>
        <p:spPr>
          <a:xfrm rot="0">
            <a:off x="952649" y="1888629"/>
            <a:ext cx="16382702" cy="956667"/>
          </a:xfrm>
          <a:prstGeom prst="rect">
            <a:avLst/>
          </a:prstGeom>
        </p:spPr>
        <p:txBody>
          <a:bodyPr anchor="t" rtlCol="false" tIns="0" lIns="0" bIns="0" rIns="0">
            <a:spAutoFit/>
          </a:bodyPr>
          <a:lstStyle/>
          <a:p>
            <a:pPr algn="l">
              <a:lnSpc>
                <a:spcPts val="3374"/>
              </a:lnSpc>
            </a:pPr>
            <a:r>
              <a:rPr lang="en-US" sz="2125">
                <a:solidFill>
                  <a:srgbClr val="E5E0DF"/>
                </a:solidFill>
                <a:latin typeface="Roboto"/>
                <a:ea typeface="Roboto"/>
                <a:cs typeface="Roboto"/>
                <a:sym typeface="Roboto"/>
              </a:rPr>
              <a:t>Projected outcomes from implementing the strategic recommendations, measured through key performance indicators critical to Uber's operational success.</a:t>
            </a:r>
          </a:p>
        </p:txBody>
      </p:sp>
      <p:sp>
        <p:nvSpPr>
          <p:cNvPr name="TextBox 8" id="8"/>
          <p:cNvSpPr txBox="true"/>
          <p:nvPr/>
        </p:nvSpPr>
        <p:spPr>
          <a:xfrm rot="0">
            <a:off x="1895475" y="5025330"/>
            <a:ext cx="3347889" cy="575667"/>
          </a:xfrm>
          <a:prstGeom prst="rect">
            <a:avLst/>
          </a:prstGeom>
        </p:spPr>
        <p:txBody>
          <a:bodyPr anchor="t" rtlCol="false" tIns="0" lIns="0" bIns="0" rIns="0">
            <a:spAutoFit/>
          </a:bodyPr>
          <a:lstStyle/>
          <a:p>
            <a:pPr algn="ctr">
              <a:lnSpc>
                <a:spcPts val="5312"/>
              </a:lnSpc>
            </a:pPr>
            <a:r>
              <a:rPr lang="en-US" sz="5312" b="true">
                <a:solidFill>
                  <a:srgbClr val="E5E0DF"/>
                </a:solidFill>
                <a:latin typeface="Saira Medium"/>
                <a:ea typeface="Saira Medium"/>
                <a:cs typeface="Saira Medium"/>
                <a:sym typeface="Saira Medium"/>
              </a:rPr>
              <a:t>25%</a:t>
            </a:r>
          </a:p>
        </p:txBody>
      </p:sp>
      <p:grpSp>
        <p:nvGrpSpPr>
          <p:cNvPr name="Group 9" id="9"/>
          <p:cNvGrpSpPr>
            <a:grpSpLocks noChangeAspect="true"/>
          </p:cNvGrpSpPr>
          <p:nvPr/>
        </p:nvGrpSpPr>
        <p:grpSpPr>
          <a:xfrm rot="0">
            <a:off x="1528167" y="3219450"/>
            <a:ext cx="4082802" cy="4082802"/>
            <a:chOff x="0" y="0"/>
            <a:chExt cx="5443737" cy="5443737"/>
          </a:xfrm>
        </p:grpSpPr>
        <p:sp>
          <p:nvSpPr>
            <p:cNvPr name="Freeform 10" id="10" descr="preencoded.png"/>
            <p:cNvSpPr/>
            <p:nvPr/>
          </p:nvSpPr>
          <p:spPr>
            <a:xfrm flipH="false" flipV="false" rot="0">
              <a:off x="0" y="0"/>
              <a:ext cx="5443728" cy="5443728"/>
            </a:xfrm>
            <a:custGeom>
              <a:avLst/>
              <a:gdLst/>
              <a:ahLst/>
              <a:cxnLst/>
              <a:rect r="r" b="b" t="t" l="l"/>
              <a:pathLst>
                <a:path h="5443728" w="5443728">
                  <a:moveTo>
                    <a:pt x="0" y="0"/>
                  </a:moveTo>
                  <a:lnTo>
                    <a:pt x="5443728" y="0"/>
                  </a:lnTo>
                  <a:lnTo>
                    <a:pt x="5443728" y="5443728"/>
                  </a:lnTo>
                  <a:lnTo>
                    <a:pt x="0" y="5443728"/>
                  </a:lnTo>
                  <a:lnTo>
                    <a:pt x="0" y="0"/>
                  </a:lnTo>
                  <a:close/>
                </a:path>
              </a:pathLst>
            </a:custGeom>
            <a:blipFill>
              <a:blip r:embed="rId4"/>
              <a:stretch>
                <a:fillRect l="0" t="0" r="0" b="0"/>
              </a:stretch>
            </a:blipFill>
          </p:spPr>
        </p:sp>
      </p:grpSp>
      <p:sp>
        <p:nvSpPr>
          <p:cNvPr name="TextBox 11" id="11"/>
          <p:cNvSpPr txBox="true"/>
          <p:nvPr/>
        </p:nvSpPr>
        <p:spPr>
          <a:xfrm rot="0">
            <a:off x="1868389" y="7623274"/>
            <a:ext cx="3402360" cy="444253"/>
          </a:xfrm>
          <a:prstGeom prst="rect">
            <a:avLst/>
          </a:prstGeom>
        </p:spPr>
        <p:txBody>
          <a:bodyPr anchor="t" rtlCol="false" tIns="0" lIns="0" bIns="0" rIns="0">
            <a:spAutoFit/>
          </a:bodyPr>
          <a:lstStyle/>
          <a:p>
            <a:pPr algn="ctr">
              <a:lnSpc>
                <a:spcPts val="3312"/>
              </a:lnSpc>
            </a:pPr>
            <a:r>
              <a:rPr lang="en-US" sz="2625" b="true">
                <a:solidFill>
                  <a:srgbClr val="E5E0DF"/>
                </a:solidFill>
                <a:latin typeface="Saira Medium"/>
                <a:ea typeface="Saira Medium"/>
                <a:cs typeface="Saira Medium"/>
                <a:sym typeface="Saira Medium"/>
              </a:rPr>
              <a:t>Reduced Wait Time</a:t>
            </a:r>
          </a:p>
        </p:txBody>
      </p:sp>
      <p:sp>
        <p:nvSpPr>
          <p:cNvPr name="TextBox 12" id="12"/>
          <p:cNvSpPr txBox="true"/>
          <p:nvPr/>
        </p:nvSpPr>
        <p:spPr>
          <a:xfrm rot="0">
            <a:off x="952649" y="8145066"/>
            <a:ext cx="5233987" cy="1392139"/>
          </a:xfrm>
          <a:prstGeom prst="rect">
            <a:avLst/>
          </a:prstGeom>
        </p:spPr>
        <p:txBody>
          <a:bodyPr anchor="t" rtlCol="false" tIns="0" lIns="0" bIns="0" rIns="0">
            <a:spAutoFit/>
          </a:bodyPr>
          <a:lstStyle/>
          <a:p>
            <a:pPr algn="ctr">
              <a:lnSpc>
                <a:spcPts val="3374"/>
              </a:lnSpc>
            </a:pPr>
            <a:r>
              <a:rPr lang="en-US" sz="2125">
                <a:solidFill>
                  <a:srgbClr val="E5E0DF"/>
                </a:solidFill>
                <a:latin typeface="Roboto"/>
                <a:ea typeface="Roboto"/>
                <a:cs typeface="Roboto"/>
                <a:sym typeface="Roboto"/>
              </a:rPr>
              <a:t>Peak hour customer wait times expected to decrease through optimized driver deployment</a:t>
            </a:r>
          </a:p>
        </p:txBody>
      </p:sp>
      <p:sp>
        <p:nvSpPr>
          <p:cNvPr name="TextBox 13" id="13"/>
          <p:cNvSpPr txBox="true"/>
          <p:nvPr/>
        </p:nvSpPr>
        <p:spPr>
          <a:xfrm rot="0">
            <a:off x="7469832" y="5025330"/>
            <a:ext cx="3347889" cy="575667"/>
          </a:xfrm>
          <a:prstGeom prst="rect">
            <a:avLst/>
          </a:prstGeom>
        </p:spPr>
        <p:txBody>
          <a:bodyPr anchor="t" rtlCol="false" tIns="0" lIns="0" bIns="0" rIns="0">
            <a:spAutoFit/>
          </a:bodyPr>
          <a:lstStyle/>
          <a:p>
            <a:pPr algn="ctr">
              <a:lnSpc>
                <a:spcPts val="5312"/>
              </a:lnSpc>
            </a:pPr>
            <a:r>
              <a:rPr lang="en-US" sz="5312" b="true">
                <a:solidFill>
                  <a:srgbClr val="E5E0DF"/>
                </a:solidFill>
                <a:latin typeface="Saira Medium"/>
                <a:ea typeface="Saira Medium"/>
                <a:cs typeface="Saira Medium"/>
                <a:sym typeface="Saira Medium"/>
              </a:rPr>
              <a:t>18%</a:t>
            </a:r>
          </a:p>
        </p:txBody>
      </p:sp>
      <p:grpSp>
        <p:nvGrpSpPr>
          <p:cNvPr name="Group 14" id="14"/>
          <p:cNvGrpSpPr>
            <a:grpSpLocks noChangeAspect="true"/>
          </p:cNvGrpSpPr>
          <p:nvPr/>
        </p:nvGrpSpPr>
        <p:grpSpPr>
          <a:xfrm rot="0">
            <a:off x="7102525" y="3219450"/>
            <a:ext cx="4082802" cy="4082802"/>
            <a:chOff x="0" y="0"/>
            <a:chExt cx="5443737" cy="5443737"/>
          </a:xfrm>
        </p:grpSpPr>
        <p:sp>
          <p:nvSpPr>
            <p:cNvPr name="Freeform 15" id="15" descr="preencoded.png"/>
            <p:cNvSpPr/>
            <p:nvPr/>
          </p:nvSpPr>
          <p:spPr>
            <a:xfrm flipH="false" flipV="false" rot="0">
              <a:off x="0" y="0"/>
              <a:ext cx="5443728" cy="5443728"/>
            </a:xfrm>
            <a:custGeom>
              <a:avLst/>
              <a:gdLst/>
              <a:ahLst/>
              <a:cxnLst/>
              <a:rect r="r" b="b" t="t" l="l"/>
              <a:pathLst>
                <a:path h="5443728" w="5443728">
                  <a:moveTo>
                    <a:pt x="0" y="0"/>
                  </a:moveTo>
                  <a:lnTo>
                    <a:pt x="5443728" y="0"/>
                  </a:lnTo>
                  <a:lnTo>
                    <a:pt x="5443728" y="5443728"/>
                  </a:lnTo>
                  <a:lnTo>
                    <a:pt x="0" y="5443728"/>
                  </a:lnTo>
                  <a:lnTo>
                    <a:pt x="0" y="0"/>
                  </a:lnTo>
                  <a:close/>
                </a:path>
              </a:pathLst>
            </a:custGeom>
            <a:blipFill>
              <a:blip r:embed="rId5"/>
              <a:stretch>
                <a:fillRect l="0" t="0" r="0" b="0"/>
              </a:stretch>
            </a:blipFill>
          </p:spPr>
        </p:sp>
      </p:grpSp>
      <p:sp>
        <p:nvSpPr>
          <p:cNvPr name="TextBox 16" id="16"/>
          <p:cNvSpPr txBox="true"/>
          <p:nvPr/>
        </p:nvSpPr>
        <p:spPr>
          <a:xfrm rot="0">
            <a:off x="7442746" y="7623274"/>
            <a:ext cx="3402360" cy="444253"/>
          </a:xfrm>
          <a:prstGeom prst="rect">
            <a:avLst/>
          </a:prstGeom>
        </p:spPr>
        <p:txBody>
          <a:bodyPr anchor="t" rtlCol="false" tIns="0" lIns="0" bIns="0" rIns="0">
            <a:spAutoFit/>
          </a:bodyPr>
          <a:lstStyle/>
          <a:p>
            <a:pPr algn="ctr">
              <a:lnSpc>
                <a:spcPts val="3312"/>
              </a:lnSpc>
            </a:pPr>
            <a:r>
              <a:rPr lang="en-US" sz="2625" b="true">
                <a:solidFill>
                  <a:srgbClr val="E5E0DF"/>
                </a:solidFill>
                <a:latin typeface="Saira Medium"/>
                <a:ea typeface="Saira Medium"/>
                <a:cs typeface="Saira Medium"/>
                <a:sym typeface="Saira Medium"/>
              </a:rPr>
              <a:t>Revenue Growth</a:t>
            </a:r>
          </a:p>
        </p:txBody>
      </p:sp>
      <p:sp>
        <p:nvSpPr>
          <p:cNvPr name="TextBox 17" id="17"/>
          <p:cNvSpPr txBox="true"/>
          <p:nvPr/>
        </p:nvSpPr>
        <p:spPr>
          <a:xfrm rot="0">
            <a:off x="6526858" y="8145066"/>
            <a:ext cx="5234136" cy="1392139"/>
          </a:xfrm>
          <a:prstGeom prst="rect">
            <a:avLst/>
          </a:prstGeom>
        </p:spPr>
        <p:txBody>
          <a:bodyPr anchor="t" rtlCol="false" tIns="0" lIns="0" bIns="0" rIns="0">
            <a:spAutoFit/>
          </a:bodyPr>
          <a:lstStyle/>
          <a:p>
            <a:pPr algn="ctr">
              <a:lnSpc>
                <a:spcPts val="3374"/>
              </a:lnSpc>
            </a:pPr>
            <a:r>
              <a:rPr lang="en-US" sz="2125">
                <a:solidFill>
                  <a:srgbClr val="E5E0DF"/>
                </a:solidFill>
                <a:latin typeface="Roboto"/>
                <a:ea typeface="Roboto"/>
                <a:cs typeface="Roboto"/>
                <a:sym typeface="Roboto"/>
              </a:rPr>
              <a:t>Projected increase in total trip volume from weekend promotions and improved service reliability</a:t>
            </a:r>
          </a:p>
        </p:txBody>
      </p:sp>
      <p:sp>
        <p:nvSpPr>
          <p:cNvPr name="TextBox 18" id="18"/>
          <p:cNvSpPr txBox="true"/>
          <p:nvPr/>
        </p:nvSpPr>
        <p:spPr>
          <a:xfrm rot="0">
            <a:off x="13044041" y="5025330"/>
            <a:ext cx="3347889" cy="575667"/>
          </a:xfrm>
          <a:prstGeom prst="rect">
            <a:avLst/>
          </a:prstGeom>
        </p:spPr>
        <p:txBody>
          <a:bodyPr anchor="t" rtlCol="false" tIns="0" lIns="0" bIns="0" rIns="0">
            <a:spAutoFit/>
          </a:bodyPr>
          <a:lstStyle/>
          <a:p>
            <a:pPr algn="ctr">
              <a:lnSpc>
                <a:spcPts val="5312"/>
              </a:lnSpc>
            </a:pPr>
            <a:r>
              <a:rPr lang="en-US" sz="5312" b="true">
                <a:solidFill>
                  <a:srgbClr val="E5E0DF"/>
                </a:solidFill>
                <a:latin typeface="Saira Medium"/>
                <a:ea typeface="Saira Medium"/>
                <a:cs typeface="Saira Medium"/>
                <a:sym typeface="Saira Medium"/>
              </a:rPr>
              <a:t>22%</a:t>
            </a:r>
          </a:p>
        </p:txBody>
      </p:sp>
      <p:grpSp>
        <p:nvGrpSpPr>
          <p:cNvPr name="Group 19" id="19"/>
          <p:cNvGrpSpPr>
            <a:grpSpLocks noChangeAspect="true"/>
          </p:cNvGrpSpPr>
          <p:nvPr/>
        </p:nvGrpSpPr>
        <p:grpSpPr>
          <a:xfrm rot="0">
            <a:off x="12676734" y="3219450"/>
            <a:ext cx="4082802" cy="4082802"/>
            <a:chOff x="0" y="0"/>
            <a:chExt cx="5443737" cy="5443737"/>
          </a:xfrm>
        </p:grpSpPr>
        <p:sp>
          <p:nvSpPr>
            <p:cNvPr name="Freeform 20" id="20" descr="preencoded.png"/>
            <p:cNvSpPr/>
            <p:nvPr/>
          </p:nvSpPr>
          <p:spPr>
            <a:xfrm flipH="false" flipV="false" rot="0">
              <a:off x="0" y="0"/>
              <a:ext cx="5443728" cy="5443728"/>
            </a:xfrm>
            <a:custGeom>
              <a:avLst/>
              <a:gdLst/>
              <a:ahLst/>
              <a:cxnLst/>
              <a:rect r="r" b="b" t="t" l="l"/>
              <a:pathLst>
                <a:path h="5443728" w="5443728">
                  <a:moveTo>
                    <a:pt x="0" y="0"/>
                  </a:moveTo>
                  <a:lnTo>
                    <a:pt x="5443728" y="0"/>
                  </a:lnTo>
                  <a:lnTo>
                    <a:pt x="5443728" y="5443728"/>
                  </a:lnTo>
                  <a:lnTo>
                    <a:pt x="0" y="5443728"/>
                  </a:lnTo>
                  <a:lnTo>
                    <a:pt x="0" y="0"/>
                  </a:lnTo>
                  <a:close/>
                </a:path>
              </a:pathLst>
            </a:custGeom>
            <a:blipFill>
              <a:blip r:embed="rId6"/>
              <a:stretch>
                <a:fillRect l="0" t="0" r="0" b="0"/>
              </a:stretch>
            </a:blipFill>
          </p:spPr>
        </p:sp>
      </p:grpSp>
      <p:sp>
        <p:nvSpPr>
          <p:cNvPr name="TextBox 21" id="21"/>
          <p:cNvSpPr txBox="true"/>
          <p:nvPr/>
        </p:nvSpPr>
        <p:spPr>
          <a:xfrm rot="0">
            <a:off x="13016954" y="7623274"/>
            <a:ext cx="3402360" cy="444253"/>
          </a:xfrm>
          <a:prstGeom prst="rect">
            <a:avLst/>
          </a:prstGeom>
        </p:spPr>
        <p:txBody>
          <a:bodyPr anchor="t" rtlCol="false" tIns="0" lIns="0" bIns="0" rIns="0">
            <a:spAutoFit/>
          </a:bodyPr>
          <a:lstStyle/>
          <a:p>
            <a:pPr algn="ctr">
              <a:lnSpc>
                <a:spcPts val="3312"/>
              </a:lnSpc>
            </a:pPr>
            <a:r>
              <a:rPr lang="en-US" sz="2625" b="true">
                <a:solidFill>
                  <a:srgbClr val="E5E0DF"/>
                </a:solidFill>
                <a:latin typeface="Saira Medium"/>
                <a:ea typeface="Saira Medium"/>
                <a:cs typeface="Saira Medium"/>
                <a:sym typeface="Saira Medium"/>
              </a:rPr>
              <a:t>Driver Efficiency</a:t>
            </a:r>
          </a:p>
        </p:txBody>
      </p:sp>
      <p:sp>
        <p:nvSpPr>
          <p:cNvPr name="TextBox 22" id="22"/>
          <p:cNvSpPr txBox="true"/>
          <p:nvPr/>
        </p:nvSpPr>
        <p:spPr>
          <a:xfrm rot="0">
            <a:off x="12101215" y="8145066"/>
            <a:ext cx="5233988" cy="1392139"/>
          </a:xfrm>
          <a:prstGeom prst="rect">
            <a:avLst/>
          </a:prstGeom>
        </p:spPr>
        <p:txBody>
          <a:bodyPr anchor="t" rtlCol="false" tIns="0" lIns="0" bIns="0" rIns="0">
            <a:spAutoFit/>
          </a:bodyPr>
          <a:lstStyle/>
          <a:p>
            <a:pPr algn="ctr">
              <a:lnSpc>
                <a:spcPts val="3374"/>
              </a:lnSpc>
            </a:pPr>
            <a:r>
              <a:rPr lang="en-US" sz="2125">
                <a:solidFill>
                  <a:srgbClr val="E5E0DF"/>
                </a:solidFill>
                <a:latin typeface="Roboto"/>
                <a:ea typeface="Roboto"/>
                <a:cs typeface="Roboto"/>
                <a:sym typeface="Roboto"/>
              </a:rPr>
              <a:t>Improved earnings per driver through better matching and reduced idle time via predictive scheduling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30303">
                <a:alpha val="56078"/>
              </a:srgbClr>
            </a:solidFill>
          </p:spPr>
        </p:sp>
      </p:grpSp>
      <p:sp>
        <p:nvSpPr>
          <p:cNvPr name="TextBox 6" id="6"/>
          <p:cNvSpPr txBox="true"/>
          <p:nvPr/>
        </p:nvSpPr>
        <p:spPr>
          <a:xfrm rot="0">
            <a:off x="992238" y="2574429"/>
            <a:ext cx="5670649" cy="727770"/>
          </a:xfrm>
          <a:prstGeom prst="rect">
            <a:avLst/>
          </a:prstGeom>
        </p:spPr>
        <p:txBody>
          <a:bodyPr anchor="t" rtlCol="false" tIns="0" lIns="0" bIns="0" rIns="0">
            <a:spAutoFit/>
          </a:bodyPr>
          <a:lstStyle/>
          <a:p>
            <a:pPr algn="l">
              <a:lnSpc>
                <a:spcPts val="5562"/>
              </a:lnSpc>
            </a:pPr>
            <a:r>
              <a:rPr lang="en-US" sz="4437" b="true">
                <a:solidFill>
                  <a:srgbClr val="FFFFFF"/>
                </a:solidFill>
                <a:latin typeface="Saira Medium"/>
                <a:ea typeface="Saira Medium"/>
                <a:cs typeface="Saira Medium"/>
                <a:sym typeface="Saira Medium"/>
              </a:rPr>
              <a:t>Conclusion</a:t>
            </a:r>
          </a:p>
        </p:txBody>
      </p:sp>
      <p:sp>
        <p:nvSpPr>
          <p:cNvPr name="TextBox 7" id="7"/>
          <p:cNvSpPr txBox="true"/>
          <p:nvPr/>
        </p:nvSpPr>
        <p:spPr>
          <a:xfrm rot="0">
            <a:off x="992238" y="3773984"/>
            <a:ext cx="16303526" cy="1456135"/>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This data-driven analysis reveals clear patterns in Uber's transportation demand, enabling strategic optimization of driver allocation, geographic coverage, and customer incentive programs. By implementing these recommendations, Uber can enhance operational efficiency, reduce wait times, and drive sustainable revenue growth through evidence-based decision-making.</a:t>
            </a:r>
          </a:p>
        </p:txBody>
      </p:sp>
      <p:grpSp>
        <p:nvGrpSpPr>
          <p:cNvPr name="Group 8" id="8"/>
          <p:cNvGrpSpPr/>
          <p:nvPr/>
        </p:nvGrpSpPr>
        <p:grpSpPr>
          <a:xfrm rot="0">
            <a:off x="977950" y="5534769"/>
            <a:ext cx="5274022" cy="2173040"/>
            <a:chOff x="0" y="0"/>
            <a:chExt cx="7032030" cy="2897387"/>
          </a:xfrm>
        </p:grpSpPr>
        <p:sp>
          <p:nvSpPr>
            <p:cNvPr name="Freeform 9" id="9"/>
            <p:cNvSpPr/>
            <p:nvPr/>
          </p:nvSpPr>
          <p:spPr>
            <a:xfrm flipH="false" flipV="false" rot="0">
              <a:off x="19050" y="19050"/>
              <a:ext cx="6993890" cy="2859278"/>
            </a:xfrm>
            <a:custGeom>
              <a:avLst/>
              <a:gdLst/>
              <a:ahLst/>
              <a:cxnLst/>
              <a:rect r="r" b="b" t="t" l="l"/>
              <a:pathLst>
                <a:path h="2859278" w="6993890">
                  <a:moveTo>
                    <a:pt x="0" y="340233"/>
                  </a:moveTo>
                  <a:cubicBezTo>
                    <a:pt x="0" y="152400"/>
                    <a:pt x="153543" y="0"/>
                    <a:pt x="342900" y="0"/>
                  </a:cubicBezTo>
                  <a:lnTo>
                    <a:pt x="6650990" y="0"/>
                  </a:lnTo>
                  <a:cubicBezTo>
                    <a:pt x="6840347" y="0"/>
                    <a:pt x="6993890" y="152400"/>
                    <a:pt x="6993890" y="340233"/>
                  </a:cubicBezTo>
                  <a:lnTo>
                    <a:pt x="6993890" y="2519045"/>
                  </a:lnTo>
                  <a:cubicBezTo>
                    <a:pt x="6993890" y="2707005"/>
                    <a:pt x="6840347" y="2859278"/>
                    <a:pt x="6650990" y="2859278"/>
                  </a:cubicBezTo>
                  <a:lnTo>
                    <a:pt x="342900" y="2859278"/>
                  </a:lnTo>
                  <a:cubicBezTo>
                    <a:pt x="153543" y="2859278"/>
                    <a:pt x="0" y="2706878"/>
                    <a:pt x="0" y="2519045"/>
                  </a:cubicBezTo>
                  <a:close/>
                </a:path>
              </a:pathLst>
            </a:custGeom>
            <a:solidFill>
              <a:srgbClr val="030303"/>
            </a:solidFill>
          </p:spPr>
        </p:sp>
        <p:sp>
          <p:nvSpPr>
            <p:cNvPr name="Freeform 10" id="10"/>
            <p:cNvSpPr/>
            <p:nvPr/>
          </p:nvSpPr>
          <p:spPr>
            <a:xfrm flipH="false" flipV="false" rot="0">
              <a:off x="0" y="0"/>
              <a:ext cx="7031990" cy="2897378"/>
            </a:xfrm>
            <a:custGeom>
              <a:avLst/>
              <a:gdLst/>
              <a:ahLst/>
              <a:cxnLst/>
              <a:rect r="r" b="b" t="t" l="l"/>
              <a:pathLst>
                <a:path h="2897378" w="7031990">
                  <a:moveTo>
                    <a:pt x="0" y="359283"/>
                  </a:moveTo>
                  <a:cubicBezTo>
                    <a:pt x="0" y="160782"/>
                    <a:pt x="162179" y="0"/>
                    <a:pt x="361950" y="0"/>
                  </a:cubicBezTo>
                  <a:lnTo>
                    <a:pt x="6670040" y="0"/>
                  </a:lnTo>
                  <a:lnTo>
                    <a:pt x="6670040" y="19050"/>
                  </a:lnTo>
                  <a:lnTo>
                    <a:pt x="6670040" y="0"/>
                  </a:lnTo>
                  <a:cubicBezTo>
                    <a:pt x="6869811" y="0"/>
                    <a:pt x="7031990" y="160782"/>
                    <a:pt x="7031990" y="359283"/>
                  </a:cubicBezTo>
                  <a:lnTo>
                    <a:pt x="7012940" y="359283"/>
                  </a:lnTo>
                  <a:lnTo>
                    <a:pt x="7031990" y="359283"/>
                  </a:lnTo>
                  <a:lnTo>
                    <a:pt x="7031990" y="2538095"/>
                  </a:lnTo>
                  <a:lnTo>
                    <a:pt x="7012940" y="2538095"/>
                  </a:lnTo>
                  <a:lnTo>
                    <a:pt x="7031990" y="2538095"/>
                  </a:lnTo>
                  <a:cubicBezTo>
                    <a:pt x="7031990" y="2736723"/>
                    <a:pt x="6869811" y="2897378"/>
                    <a:pt x="6670040" y="2897378"/>
                  </a:cubicBezTo>
                  <a:lnTo>
                    <a:pt x="6670040" y="2878328"/>
                  </a:lnTo>
                  <a:lnTo>
                    <a:pt x="6670040" y="2897378"/>
                  </a:lnTo>
                  <a:lnTo>
                    <a:pt x="361950" y="2897378"/>
                  </a:lnTo>
                  <a:lnTo>
                    <a:pt x="361950" y="2878328"/>
                  </a:lnTo>
                  <a:lnTo>
                    <a:pt x="361950" y="2897378"/>
                  </a:lnTo>
                  <a:cubicBezTo>
                    <a:pt x="162179" y="2897378"/>
                    <a:pt x="0" y="2736723"/>
                    <a:pt x="0" y="2538095"/>
                  </a:cubicBezTo>
                  <a:lnTo>
                    <a:pt x="0" y="359283"/>
                  </a:lnTo>
                  <a:lnTo>
                    <a:pt x="19050" y="359283"/>
                  </a:lnTo>
                  <a:lnTo>
                    <a:pt x="0" y="359283"/>
                  </a:lnTo>
                  <a:moveTo>
                    <a:pt x="38100" y="359283"/>
                  </a:moveTo>
                  <a:lnTo>
                    <a:pt x="38100" y="2538095"/>
                  </a:lnTo>
                  <a:lnTo>
                    <a:pt x="19050" y="2538095"/>
                  </a:lnTo>
                  <a:lnTo>
                    <a:pt x="38100" y="2538095"/>
                  </a:lnTo>
                  <a:cubicBezTo>
                    <a:pt x="38100" y="2715387"/>
                    <a:pt x="183007" y="2859278"/>
                    <a:pt x="361950" y="2859278"/>
                  </a:cubicBezTo>
                  <a:lnTo>
                    <a:pt x="6670040" y="2859278"/>
                  </a:lnTo>
                  <a:cubicBezTo>
                    <a:pt x="6849110" y="2859278"/>
                    <a:pt x="6993890" y="2715387"/>
                    <a:pt x="6993890" y="2538095"/>
                  </a:cubicBezTo>
                  <a:lnTo>
                    <a:pt x="6993890" y="359283"/>
                  </a:lnTo>
                  <a:cubicBezTo>
                    <a:pt x="6993890" y="181991"/>
                    <a:pt x="6849110" y="38100"/>
                    <a:pt x="6670040" y="38100"/>
                  </a:cubicBezTo>
                  <a:lnTo>
                    <a:pt x="361950" y="38100"/>
                  </a:lnTo>
                  <a:lnTo>
                    <a:pt x="361950" y="19050"/>
                  </a:lnTo>
                  <a:lnTo>
                    <a:pt x="361950" y="38100"/>
                  </a:lnTo>
                  <a:cubicBezTo>
                    <a:pt x="183007" y="38100"/>
                    <a:pt x="38100" y="181991"/>
                    <a:pt x="38100" y="359283"/>
                  </a:cubicBezTo>
                  <a:close/>
                </a:path>
              </a:pathLst>
            </a:custGeom>
            <a:solidFill>
              <a:srgbClr val="FC8337"/>
            </a:solidFill>
          </p:spPr>
        </p:sp>
      </p:grpSp>
      <p:sp>
        <p:nvSpPr>
          <p:cNvPr name="TextBox 11" id="11"/>
          <p:cNvSpPr txBox="true"/>
          <p:nvPr/>
        </p:nvSpPr>
        <p:spPr>
          <a:xfrm rot="0">
            <a:off x="1304330" y="5851624"/>
            <a:ext cx="3544044" cy="452437"/>
          </a:xfrm>
          <a:prstGeom prst="rect">
            <a:avLst/>
          </a:prstGeom>
        </p:spPr>
        <p:txBody>
          <a:bodyPr anchor="t" rtlCol="false" tIns="0" lIns="0" bIns="0" rIns="0">
            <a:spAutoFit/>
          </a:bodyPr>
          <a:lstStyle/>
          <a:p>
            <a:pPr algn="l">
              <a:lnSpc>
                <a:spcPts val="3437"/>
              </a:lnSpc>
            </a:pPr>
            <a:r>
              <a:rPr lang="en-US" sz="2750" b="true">
                <a:solidFill>
                  <a:srgbClr val="E5E0DF"/>
                </a:solidFill>
                <a:latin typeface="Saira Medium"/>
                <a:ea typeface="Saira Medium"/>
                <a:cs typeface="Saira Medium"/>
                <a:sym typeface="Saira Medium"/>
              </a:rPr>
              <a:t>Data Confidence</a:t>
            </a:r>
          </a:p>
        </p:txBody>
      </p:sp>
      <p:sp>
        <p:nvSpPr>
          <p:cNvPr name="TextBox 12" id="12"/>
          <p:cNvSpPr txBox="true"/>
          <p:nvPr/>
        </p:nvSpPr>
        <p:spPr>
          <a:xfrm rot="0">
            <a:off x="1304330" y="6378923"/>
            <a:ext cx="4621262" cy="548879"/>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90-95% across all insights</a:t>
            </a:r>
          </a:p>
        </p:txBody>
      </p:sp>
      <p:grpSp>
        <p:nvGrpSpPr>
          <p:cNvPr name="Group 13" id="13"/>
          <p:cNvGrpSpPr/>
          <p:nvPr/>
        </p:nvGrpSpPr>
        <p:grpSpPr>
          <a:xfrm rot="0">
            <a:off x="6506915" y="5534769"/>
            <a:ext cx="5274022" cy="2173040"/>
            <a:chOff x="0" y="0"/>
            <a:chExt cx="7032030" cy="2897387"/>
          </a:xfrm>
        </p:grpSpPr>
        <p:sp>
          <p:nvSpPr>
            <p:cNvPr name="Freeform 14" id="14"/>
            <p:cNvSpPr/>
            <p:nvPr/>
          </p:nvSpPr>
          <p:spPr>
            <a:xfrm flipH="false" flipV="false" rot="0">
              <a:off x="19050" y="19050"/>
              <a:ext cx="6993890" cy="2859278"/>
            </a:xfrm>
            <a:custGeom>
              <a:avLst/>
              <a:gdLst/>
              <a:ahLst/>
              <a:cxnLst/>
              <a:rect r="r" b="b" t="t" l="l"/>
              <a:pathLst>
                <a:path h="2859278" w="6993890">
                  <a:moveTo>
                    <a:pt x="0" y="340233"/>
                  </a:moveTo>
                  <a:cubicBezTo>
                    <a:pt x="0" y="152400"/>
                    <a:pt x="153543" y="0"/>
                    <a:pt x="342900" y="0"/>
                  </a:cubicBezTo>
                  <a:lnTo>
                    <a:pt x="6650990" y="0"/>
                  </a:lnTo>
                  <a:cubicBezTo>
                    <a:pt x="6840347" y="0"/>
                    <a:pt x="6993890" y="152400"/>
                    <a:pt x="6993890" y="340233"/>
                  </a:cubicBezTo>
                  <a:lnTo>
                    <a:pt x="6993890" y="2519045"/>
                  </a:lnTo>
                  <a:cubicBezTo>
                    <a:pt x="6993890" y="2707005"/>
                    <a:pt x="6840347" y="2859278"/>
                    <a:pt x="6650990" y="2859278"/>
                  </a:cubicBezTo>
                  <a:lnTo>
                    <a:pt x="342900" y="2859278"/>
                  </a:lnTo>
                  <a:cubicBezTo>
                    <a:pt x="153543" y="2859278"/>
                    <a:pt x="0" y="2706878"/>
                    <a:pt x="0" y="2519045"/>
                  </a:cubicBezTo>
                  <a:close/>
                </a:path>
              </a:pathLst>
            </a:custGeom>
            <a:solidFill>
              <a:srgbClr val="030303"/>
            </a:solidFill>
          </p:spPr>
        </p:sp>
        <p:sp>
          <p:nvSpPr>
            <p:cNvPr name="Freeform 15" id="15"/>
            <p:cNvSpPr/>
            <p:nvPr/>
          </p:nvSpPr>
          <p:spPr>
            <a:xfrm flipH="false" flipV="false" rot="0">
              <a:off x="0" y="0"/>
              <a:ext cx="7031990" cy="2897378"/>
            </a:xfrm>
            <a:custGeom>
              <a:avLst/>
              <a:gdLst/>
              <a:ahLst/>
              <a:cxnLst/>
              <a:rect r="r" b="b" t="t" l="l"/>
              <a:pathLst>
                <a:path h="2897378" w="7031990">
                  <a:moveTo>
                    <a:pt x="0" y="359283"/>
                  </a:moveTo>
                  <a:cubicBezTo>
                    <a:pt x="0" y="160782"/>
                    <a:pt x="162179" y="0"/>
                    <a:pt x="361950" y="0"/>
                  </a:cubicBezTo>
                  <a:lnTo>
                    <a:pt x="6670040" y="0"/>
                  </a:lnTo>
                  <a:lnTo>
                    <a:pt x="6670040" y="19050"/>
                  </a:lnTo>
                  <a:lnTo>
                    <a:pt x="6670040" y="0"/>
                  </a:lnTo>
                  <a:cubicBezTo>
                    <a:pt x="6869811" y="0"/>
                    <a:pt x="7031990" y="160782"/>
                    <a:pt x="7031990" y="359283"/>
                  </a:cubicBezTo>
                  <a:lnTo>
                    <a:pt x="7012940" y="359283"/>
                  </a:lnTo>
                  <a:lnTo>
                    <a:pt x="7031990" y="359283"/>
                  </a:lnTo>
                  <a:lnTo>
                    <a:pt x="7031990" y="2538095"/>
                  </a:lnTo>
                  <a:lnTo>
                    <a:pt x="7012940" y="2538095"/>
                  </a:lnTo>
                  <a:lnTo>
                    <a:pt x="7031990" y="2538095"/>
                  </a:lnTo>
                  <a:cubicBezTo>
                    <a:pt x="7031990" y="2736723"/>
                    <a:pt x="6869811" y="2897378"/>
                    <a:pt x="6670040" y="2897378"/>
                  </a:cubicBezTo>
                  <a:lnTo>
                    <a:pt x="6670040" y="2878328"/>
                  </a:lnTo>
                  <a:lnTo>
                    <a:pt x="6670040" y="2897378"/>
                  </a:lnTo>
                  <a:lnTo>
                    <a:pt x="361950" y="2897378"/>
                  </a:lnTo>
                  <a:lnTo>
                    <a:pt x="361950" y="2878328"/>
                  </a:lnTo>
                  <a:lnTo>
                    <a:pt x="361950" y="2897378"/>
                  </a:lnTo>
                  <a:cubicBezTo>
                    <a:pt x="162179" y="2897378"/>
                    <a:pt x="0" y="2736723"/>
                    <a:pt x="0" y="2538095"/>
                  </a:cubicBezTo>
                  <a:lnTo>
                    <a:pt x="0" y="359283"/>
                  </a:lnTo>
                  <a:lnTo>
                    <a:pt x="19050" y="359283"/>
                  </a:lnTo>
                  <a:lnTo>
                    <a:pt x="0" y="359283"/>
                  </a:lnTo>
                  <a:moveTo>
                    <a:pt x="38100" y="359283"/>
                  </a:moveTo>
                  <a:lnTo>
                    <a:pt x="38100" y="2538095"/>
                  </a:lnTo>
                  <a:lnTo>
                    <a:pt x="19050" y="2538095"/>
                  </a:lnTo>
                  <a:lnTo>
                    <a:pt x="38100" y="2538095"/>
                  </a:lnTo>
                  <a:cubicBezTo>
                    <a:pt x="38100" y="2715387"/>
                    <a:pt x="183007" y="2859278"/>
                    <a:pt x="361950" y="2859278"/>
                  </a:cubicBezTo>
                  <a:lnTo>
                    <a:pt x="6670040" y="2859278"/>
                  </a:lnTo>
                  <a:cubicBezTo>
                    <a:pt x="6849110" y="2859278"/>
                    <a:pt x="6993890" y="2715387"/>
                    <a:pt x="6993890" y="2538095"/>
                  </a:cubicBezTo>
                  <a:lnTo>
                    <a:pt x="6993890" y="359283"/>
                  </a:lnTo>
                  <a:cubicBezTo>
                    <a:pt x="6993890" y="181991"/>
                    <a:pt x="6849110" y="38100"/>
                    <a:pt x="6670040" y="38100"/>
                  </a:cubicBezTo>
                  <a:lnTo>
                    <a:pt x="361950" y="38100"/>
                  </a:lnTo>
                  <a:lnTo>
                    <a:pt x="361950" y="19050"/>
                  </a:lnTo>
                  <a:lnTo>
                    <a:pt x="361950" y="38100"/>
                  </a:lnTo>
                  <a:cubicBezTo>
                    <a:pt x="183007" y="38100"/>
                    <a:pt x="38100" y="181991"/>
                    <a:pt x="38100" y="359283"/>
                  </a:cubicBezTo>
                  <a:close/>
                </a:path>
              </a:pathLst>
            </a:custGeom>
            <a:solidFill>
              <a:srgbClr val="FC8337"/>
            </a:solidFill>
          </p:spPr>
        </p:sp>
      </p:grpSp>
      <p:sp>
        <p:nvSpPr>
          <p:cNvPr name="TextBox 16" id="16"/>
          <p:cNvSpPr txBox="true"/>
          <p:nvPr/>
        </p:nvSpPr>
        <p:spPr>
          <a:xfrm rot="0">
            <a:off x="6833295" y="5851624"/>
            <a:ext cx="3544044" cy="452437"/>
          </a:xfrm>
          <a:prstGeom prst="rect">
            <a:avLst/>
          </a:prstGeom>
        </p:spPr>
        <p:txBody>
          <a:bodyPr anchor="t" rtlCol="false" tIns="0" lIns="0" bIns="0" rIns="0">
            <a:spAutoFit/>
          </a:bodyPr>
          <a:lstStyle/>
          <a:p>
            <a:pPr algn="l">
              <a:lnSpc>
                <a:spcPts val="3437"/>
              </a:lnSpc>
            </a:pPr>
            <a:r>
              <a:rPr lang="en-US" sz="2750" b="true">
                <a:solidFill>
                  <a:srgbClr val="E5E0DF"/>
                </a:solidFill>
                <a:latin typeface="Saira Medium"/>
                <a:ea typeface="Saira Medium"/>
                <a:cs typeface="Saira Medium"/>
                <a:sym typeface="Saira Medium"/>
              </a:rPr>
              <a:t>Quick Wins</a:t>
            </a:r>
          </a:p>
        </p:txBody>
      </p:sp>
      <p:sp>
        <p:nvSpPr>
          <p:cNvPr name="TextBox 17" id="17"/>
          <p:cNvSpPr txBox="true"/>
          <p:nvPr/>
        </p:nvSpPr>
        <p:spPr>
          <a:xfrm rot="0">
            <a:off x="6833295" y="6378923"/>
            <a:ext cx="4621262" cy="1002506"/>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Immediate implementation within weeks</a:t>
            </a:r>
          </a:p>
        </p:txBody>
      </p:sp>
      <p:grpSp>
        <p:nvGrpSpPr>
          <p:cNvPr name="Group 18" id="18"/>
          <p:cNvGrpSpPr/>
          <p:nvPr/>
        </p:nvGrpSpPr>
        <p:grpSpPr>
          <a:xfrm rot="0">
            <a:off x="12035879" y="5534769"/>
            <a:ext cx="5274022" cy="2173040"/>
            <a:chOff x="0" y="0"/>
            <a:chExt cx="7032030" cy="2897387"/>
          </a:xfrm>
        </p:grpSpPr>
        <p:sp>
          <p:nvSpPr>
            <p:cNvPr name="Freeform 19" id="19"/>
            <p:cNvSpPr/>
            <p:nvPr/>
          </p:nvSpPr>
          <p:spPr>
            <a:xfrm flipH="false" flipV="false" rot="0">
              <a:off x="19050" y="19050"/>
              <a:ext cx="6993890" cy="2859278"/>
            </a:xfrm>
            <a:custGeom>
              <a:avLst/>
              <a:gdLst/>
              <a:ahLst/>
              <a:cxnLst/>
              <a:rect r="r" b="b" t="t" l="l"/>
              <a:pathLst>
                <a:path h="2859278" w="6993890">
                  <a:moveTo>
                    <a:pt x="0" y="340233"/>
                  </a:moveTo>
                  <a:cubicBezTo>
                    <a:pt x="0" y="152400"/>
                    <a:pt x="153543" y="0"/>
                    <a:pt x="342900" y="0"/>
                  </a:cubicBezTo>
                  <a:lnTo>
                    <a:pt x="6650990" y="0"/>
                  </a:lnTo>
                  <a:cubicBezTo>
                    <a:pt x="6840347" y="0"/>
                    <a:pt x="6993890" y="152400"/>
                    <a:pt x="6993890" y="340233"/>
                  </a:cubicBezTo>
                  <a:lnTo>
                    <a:pt x="6993890" y="2519045"/>
                  </a:lnTo>
                  <a:cubicBezTo>
                    <a:pt x="6993890" y="2707005"/>
                    <a:pt x="6840347" y="2859278"/>
                    <a:pt x="6650990" y="2859278"/>
                  </a:cubicBezTo>
                  <a:lnTo>
                    <a:pt x="342900" y="2859278"/>
                  </a:lnTo>
                  <a:cubicBezTo>
                    <a:pt x="153543" y="2859278"/>
                    <a:pt x="0" y="2706878"/>
                    <a:pt x="0" y="2519045"/>
                  </a:cubicBezTo>
                  <a:close/>
                </a:path>
              </a:pathLst>
            </a:custGeom>
            <a:solidFill>
              <a:srgbClr val="030303"/>
            </a:solidFill>
          </p:spPr>
        </p:sp>
        <p:sp>
          <p:nvSpPr>
            <p:cNvPr name="Freeform 20" id="20"/>
            <p:cNvSpPr/>
            <p:nvPr/>
          </p:nvSpPr>
          <p:spPr>
            <a:xfrm flipH="false" flipV="false" rot="0">
              <a:off x="0" y="0"/>
              <a:ext cx="7031990" cy="2897378"/>
            </a:xfrm>
            <a:custGeom>
              <a:avLst/>
              <a:gdLst/>
              <a:ahLst/>
              <a:cxnLst/>
              <a:rect r="r" b="b" t="t" l="l"/>
              <a:pathLst>
                <a:path h="2897378" w="7031990">
                  <a:moveTo>
                    <a:pt x="0" y="359283"/>
                  </a:moveTo>
                  <a:cubicBezTo>
                    <a:pt x="0" y="160782"/>
                    <a:pt x="162179" y="0"/>
                    <a:pt x="361950" y="0"/>
                  </a:cubicBezTo>
                  <a:lnTo>
                    <a:pt x="6670040" y="0"/>
                  </a:lnTo>
                  <a:lnTo>
                    <a:pt x="6670040" y="19050"/>
                  </a:lnTo>
                  <a:lnTo>
                    <a:pt x="6670040" y="0"/>
                  </a:lnTo>
                  <a:cubicBezTo>
                    <a:pt x="6869811" y="0"/>
                    <a:pt x="7031990" y="160782"/>
                    <a:pt x="7031990" y="359283"/>
                  </a:cubicBezTo>
                  <a:lnTo>
                    <a:pt x="7012940" y="359283"/>
                  </a:lnTo>
                  <a:lnTo>
                    <a:pt x="7031990" y="359283"/>
                  </a:lnTo>
                  <a:lnTo>
                    <a:pt x="7031990" y="2538095"/>
                  </a:lnTo>
                  <a:lnTo>
                    <a:pt x="7012940" y="2538095"/>
                  </a:lnTo>
                  <a:lnTo>
                    <a:pt x="7031990" y="2538095"/>
                  </a:lnTo>
                  <a:cubicBezTo>
                    <a:pt x="7031990" y="2736723"/>
                    <a:pt x="6869811" y="2897378"/>
                    <a:pt x="6670040" y="2897378"/>
                  </a:cubicBezTo>
                  <a:lnTo>
                    <a:pt x="6670040" y="2878328"/>
                  </a:lnTo>
                  <a:lnTo>
                    <a:pt x="6670040" y="2897378"/>
                  </a:lnTo>
                  <a:lnTo>
                    <a:pt x="361950" y="2897378"/>
                  </a:lnTo>
                  <a:lnTo>
                    <a:pt x="361950" y="2878328"/>
                  </a:lnTo>
                  <a:lnTo>
                    <a:pt x="361950" y="2897378"/>
                  </a:lnTo>
                  <a:cubicBezTo>
                    <a:pt x="162179" y="2897378"/>
                    <a:pt x="0" y="2736723"/>
                    <a:pt x="0" y="2538095"/>
                  </a:cubicBezTo>
                  <a:lnTo>
                    <a:pt x="0" y="359283"/>
                  </a:lnTo>
                  <a:lnTo>
                    <a:pt x="19050" y="359283"/>
                  </a:lnTo>
                  <a:lnTo>
                    <a:pt x="0" y="359283"/>
                  </a:lnTo>
                  <a:moveTo>
                    <a:pt x="38100" y="359283"/>
                  </a:moveTo>
                  <a:lnTo>
                    <a:pt x="38100" y="2538095"/>
                  </a:lnTo>
                  <a:lnTo>
                    <a:pt x="19050" y="2538095"/>
                  </a:lnTo>
                  <a:lnTo>
                    <a:pt x="38100" y="2538095"/>
                  </a:lnTo>
                  <a:cubicBezTo>
                    <a:pt x="38100" y="2715387"/>
                    <a:pt x="183007" y="2859278"/>
                    <a:pt x="361950" y="2859278"/>
                  </a:cubicBezTo>
                  <a:lnTo>
                    <a:pt x="6670040" y="2859278"/>
                  </a:lnTo>
                  <a:cubicBezTo>
                    <a:pt x="6849110" y="2859278"/>
                    <a:pt x="6993890" y="2715387"/>
                    <a:pt x="6993890" y="2538095"/>
                  </a:cubicBezTo>
                  <a:lnTo>
                    <a:pt x="6993890" y="359283"/>
                  </a:lnTo>
                  <a:cubicBezTo>
                    <a:pt x="6993890" y="181991"/>
                    <a:pt x="6849110" y="38100"/>
                    <a:pt x="6670040" y="38100"/>
                  </a:cubicBezTo>
                  <a:lnTo>
                    <a:pt x="361950" y="38100"/>
                  </a:lnTo>
                  <a:lnTo>
                    <a:pt x="361950" y="19050"/>
                  </a:lnTo>
                  <a:lnTo>
                    <a:pt x="361950" y="38100"/>
                  </a:lnTo>
                  <a:cubicBezTo>
                    <a:pt x="183007" y="38100"/>
                    <a:pt x="38100" y="181991"/>
                    <a:pt x="38100" y="359283"/>
                  </a:cubicBezTo>
                  <a:close/>
                </a:path>
              </a:pathLst>
            </a:custGeom>
            <a:solidFill>
              <a:srgbClr val="FC8337"/>
            </a:solidFill>
          </p:spPr>
        </p:sp>
      </p:grpSp>
      <p:sp>
        <p:nvSpPr>
          <p:cNvPr name="TextBox 21" id="21"/>
          <p:cNvSpPr txBox="true"/>
          <p:nvPr/>
        </p:nvSpPr>
        <p:spPr>
          <a:xfrm rot="0">
            <a:off x="12362260" y="5851624"/>
            <a:ext cx="3544044" cy="452437"/>
          </a:xfrm>
          <a:prstGeom prst="rect">
            <a:avLst/>
          </a:prstGeom>
        </p:spPr>
        <p:txBody>
          <a:bodyPr anchor="t" rtlCol="false" tIns="0" lIns="0" bIns="0" rIns="0">
            <a:spAutoFit/>
          </a:bodyPr>
          <a:lstStyle/>
          <a:p>
            <a:pPr algn="l">
              <a:lnSpc>
                <a:spcPts val="3437"/>
              </a:lnSpc>
            </a:pPr>
            <a:r>
              <a:rPr lang="en-US" sz="2750" b="true">
                <a:solidFill>
                  <a:srgbClr val="E5E0DF"/>
                </a:solidFill>
                <a:latin typeface="Saira Medium"/>
                <a:ea typeface="Saira Medium"/>
                <a:cs typeface="Saira Medium"/>
                <a:sym typeface="Saira Medium"/>
              </a:rPr>
              <a:t>Long-term Value</a:t>
            </a:r>
          </a:p>
        </p:txBody>
      </p:sp>
      <p:sp>
        <p:nvSpPr>
          <p:cNvPr name="TextBox 22" id="22"/>
          <p:cNvSpPr txBox="true"/>
          <p:nvPr/>
        </p:nvSpPr>
        <p:spPr>
          <a:xfrm rot="0">
            <a:off x="12362260" y="6378923"/>
            <a:ext cx="4621263" cy="1002506"/>
          </a:xfrm>
          <a:prstGeom prst="rect">
            <a:avLst/>
          </a:prstGeom>
        </p:spPr>
        <p:txBody>
          <a:bodyPr anchor="t" rtlCol="false" tIns="0" lIns="0" bIns="0" rIns="0">
            <a:spAutoFit/>
          </a:bodyPr>
          <a:lstStyle/>
          <a:p>
            <a:pPr algn="l">
              <a:lnSpc>
                <a:spcPts val="3562"/>
              </a:lnSpc>
            </a:pPr>
            <a:r>
              <a:rPr lang="en-US" sz="2187">
                <a:solidFill>
                  <a:srgbClr val="E5E0DF"/>
                </a:solidFill>
                <a:latin typeface="Roboto"/>
                <a:ea typeface="Roboto"/>
                <a:cs typeface="Roboto"/>
                <a:sym typeface="Roboto"/>
              </a:rPr>
              <a:t>Scalable, predictive framework for ongoing optimization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DAG4Z1Lrux8</dc:identifier>
  <dcterms:modified xsi:type="dcterms:W3CDTF">2011-08-01T06:04:30Z</dcterms:modified>
  <cp:revision>1</cp:revision>
  <dc:title>Uber-Transportation-Data-Analysis (1).pptx</dc:title>
</cp:coreProperties>
</file>